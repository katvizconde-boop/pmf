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4864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000000"/>
                </a:solidFill>
              </a:rPr>
              <a:t>👋</a:t>
            </a:r>
            <a:endParaRPr lang="en-US" sz="14000" dirty="0"/>
          </a:p>
        </p:txBody>
      </p:sp>
      <p:sp>
        <p:nvSpPr>
          <p:cNvPr id="46" name="Text 44"/>
          <p:cNvSpPr/>
          <p:nvPr/>
        </p:nvSpPr>
        <p:spPr>
          <a:xfrm>
            <a:off x="548640" y="3703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WELCOME, TEAMMATE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406908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new PMF home</a:t>
            </a:r>
            <a:endParaRPr lang="en-US" sz="8000" dirty="0"/>
          </a:p>
        </p:txBody>
      </p:sp>
      <p:sp>
        <p:nvSpPr>
          <p:cNvPr id="48" name="Text 46"/>
          <p:cNvSpPr/>
          <p:nvPr/>
        </p:nvSpPr>
        <p:spPr>
          <a:xfrm>
            <a:off x="54864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management — finally simple, finally yours.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YOUR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in it for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reviews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Self-assessments take 15 minutes — not an afternoon.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78308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40664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Forever history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2423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review you've ever done is one click away. Build your career story.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3756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👁️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transparency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finalize, you see exactly what your manager said and why.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3375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33756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40664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recognition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0664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and receive Kudos any time of year. Acknowledged — not just at review.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9204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64592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career path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45920" y="5532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ladder. Know what skills you need for the next level.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89204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89204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740664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your goals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06640" y="5532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goals at cycle start. Track progress. Show your impact at review.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simple 4-step journey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31620" y="1737360"/>
            <a:ext cx="731520" cy="731520"/>
          </a:xfrm>
          <a:prstGeom prst="ellipse">
            <a:avLst/>
          </a:prstGeom>
          <a:solidFill>
            <a:srgbClr val="0033FF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🔐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23060" y="4114800"/>
            <a:ext cx="548640" cy="36576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97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your email + password (or Microsoft 365 SSO)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65760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044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57700" y="17373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4577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2044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✍️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352044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SELF-ASSESS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49140" y="411480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4297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yourself, share examples, sign electronically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65760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4652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83780" y="17373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3837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4652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👥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644652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REVIEWS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75220" y="4114800"/>
            <a:ext cx="5486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297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manager rates you. HR finalizes.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98280" y="3657600"/>
            <a:ext cx="22860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210312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309860" y="173736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103098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372600" y="2560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📊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937260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FEEDBACK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401300" y="4114800"/>
            <a:ext cx="5486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9555480" y="4297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final score, manager comments, Print PDF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time on your end: ~15 minutes per cycle.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STEP 1 — LOGIN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to your account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log in: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292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3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5029200" cy="36576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1 · EMAIL + PASSWORD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@sevengen.com email + the temporary password from HR.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time? Use: password123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change it under My Profile.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0292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5029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2 · MICROSOFT 365 SSO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"Sign in with Microsoft" — uses your work account.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password to remember. Same login as Outlook &amp; Teams.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5029200" cy="64008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760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sevengen.vercel.app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783080"/>
            <a:ext cx="548640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 sevengen.vercel.app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4688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78040" y="2697480"/>
            <a:ext cx="365760" cy="36576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18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to PMF System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3931920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you@sevengen.com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4663440"/>
            <a:ext cx="3566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••••••••••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5212080"/>
            <a:ext cx="3566160" cy="41148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5212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78040" y="5715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sign in with Microsoft 365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STEP 2 — YOUR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home base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soon as you log in, you'll see a personalized dashboard: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423160"/>
            <a:ext cx="36576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3337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🔔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tasks at the top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48840" y="5212080"/>
            <a:ext cx="5486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349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banner shows what needs your attention RIGHT NOW. "You have 1 PMF pending — complete your self-assessment."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98264" y="2423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98264" y="2423160"/>
            <a:ext cx="365760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6" name="Text 14"/>
          <p:cNvSpPr/>
          <p:nvPr/>
        </p:nvSpPr>
        <p:spPr>
          <a:xfrm>
            <a:off x="5678424" y="3337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📋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672584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PMFs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52744" y="5212080"/>
            <a:ext cx="548640" cy="36576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5349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assessment — past, current, future — listed with status, score, and a one-click "Open" button.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02168" y="2423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02168" y="2423160"/>
            <a:ext cx="3657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9482328" y="3337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⭐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476488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latest score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56648" y="5212080"/>
            <a:ext cx="5486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8476488" y="5349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stat: total PMFs, in-progress, and your latest weighted score.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STEP 3 — SELF-ASSESSMENT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yourself, share examples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item: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0033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rating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 = Unsatisfactory ... 5.0 = Significantly Exceeds. Half-points work too.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003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justification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8587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specific examples, projects, or behaviors that support your rating.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0033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to the next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9560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your input auto-saves as you type. No "save" button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51206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064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</a:t>
            </a:r>
            <a:pPr indent="0" marL="0">
              <a:buNone/>
            </a:pPr>
            <a:r>
              <a:rPr lang="en-US" sz="11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 honest. Self-assessments aren't competitive — they help your manager give you better feedback.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783080"/>
            <a:ext cx="548640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783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II: Core Competencies  ·  Weight: 30%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 and Leadership *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together with the team by being dependable.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246120"/>
            <a:ext cx="411480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4.0 - Exceeds Expectations  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 Justification / Evidence — required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11480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206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Q4 I led the cross-team training initiative, mentored 2 new hires, and stepped in on the year-end campaign when our lead was on leave.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Auto-saved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STEP 4 — SIGN &amp; SUBMIT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electronically and submit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Drawing your signature: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Scroll to the bottom of the 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Find the ✍️ Signatures section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Use your mouse (or finger on mobile) to draw your signature in the box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Click "Submit Self-Assessment"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Your manager is auto-notified by email + in-app bell 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56692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Your signature is legally valid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57784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stored encrypted alongside your evaluation. The drawing IS your formal sign-off — same as ink on paper.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Signatures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Signature 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070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788920"/>
            <a:ext cx="49377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880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A1A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Krystle ~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3749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 Signature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406908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069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pending 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Signature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5349240"/>
            <a:ext cx="4937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349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pending 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STEP 5 — GET FEEDBACK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final feedback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your manager rates and HR approves, you get an email + bell notification: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73152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evaluation is finalized 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here to view your finalized PMF, see your manager's feedback, and download the PDF.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see: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ratings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self-rating vs manager's rating, per item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53912" y="4023360"/>
            <a:ext cx="54864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14032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Manager's justifications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14032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your manager wrote for each 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48072"/>
            <a:ext cx="54864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30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08760" y="5330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overall score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650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using the official formula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53912" y="5148072"/>
            <a:ext cx="54864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5330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🖨️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14032" y="5330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branded PDF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14032" y="5650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or save for your records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BONUS FEATURES FOR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just reviews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FREE for every employee — use them anytime, not just at review: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23160"/>
            <a:ext cx="73152" cy="1417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🎉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926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a public shout-out to anyone in any of the 4 companies. Your manager sees it at review.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2544" y="24231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52544" y="2423160"/>
            <a:ext cx="73152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12664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Path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12664" y="2926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role's ladder — Junior → Senior → Lead. Know what skills get you to the next step.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24231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6448" y="2423160"/>
            <a:ext cx="73152" cy="1417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3850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16568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16568" y="2926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quarterly goals at the start of a cycle. Track progress. Celebrate at the end.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005072"/>
            <a:ext cx="73152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📔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0876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1:1 Notes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507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notepad with your manager. Agendas, action items, history of every conversation.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52544" y="40050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2544" y="4005072"/>
            <a:ext cx="73152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81144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📎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312664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12664" y="4507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your contract, training certificates, IDs. All your docs in one place.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56448" y="40050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56448" y="4005072"/>
            <a:ext cx="73152" cy="14173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116568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16568" y="4507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Bell icon at the top right. Real-time updates on your PMFs, kudos, and 1:1s.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YOU STAY IN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profile &amp; data privacy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Your Profile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"My Profile" anytime to: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Upload your photo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Update name, contact, address, emergency contact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112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Change your password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953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View your manager and reporting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79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Re-watch the welcome tour 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Your Privacy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see your data: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78892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88920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80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80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3081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 to your own PMFs, goals, profile, documents.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56616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56616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Manager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858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YOUR PMF (not other employees' data) + 1:1 notes you share.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434340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33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343400"/>
            <a:ext cx="73152" cy="68580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434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Admin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78040" y="4636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— for evaluation review and compliance purposes only.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5120640"/>
            <a:ext cx="53035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12064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5212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780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employees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5413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see your evaluations. Period.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 Every access to your data is logged. You can request the audit trail anytime via HR.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FAQ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required?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— all employees use the same system. It's how PMFs are tracked starting this cycle.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912" y="178308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48272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my manager change my self-rating?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48272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They give their own rating in their own column. Your self-rating is yours, untouched.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if I forgot my password?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74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out to HR — they can reset it for you. Or use Microsoft 365 SSO if your company set it up.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2" y="297180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48272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I save and finish later?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8272" y="3474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Yes! Everything auto-saves as you type. Come back anytime before submitting.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if I don't submit on time?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You'll get email + in-app reminders at 14, 7, 3, and 1 days before the deadline. HR is notified if you go past due.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53912" y="416052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48272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Will my old PDF reviews show up here?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48272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reviews stay in your records (HR has them). New reviews from this cycle forward live in this system.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5486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I see other employees' scores?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5852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You only see your own. Managers see only their direct reports. HR sees company-wide for compliance.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53912" y="5349240"/>
            <a:ext cx="5486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48272" y="5486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my data leaving the Philippines?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48272" y="5852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database is hosted in Singapore (Asia region) — fast, secure, and within ASEAN data residency.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help? We've got you.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Welcome Guide  ·  sevengen.vercel.app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🎓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Tour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03120" y="4480560"/>
            <a:ext cx="548640" cy="36576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"My Profile → 🎓 Restart Tour" anytime to re-watch the guided walkthrough.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548640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60-second video tour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2544" y="178308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52544" y="1783080"/>
            <a:ext cx="36576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678424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💬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626864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HR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07024" y="448056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hr@sevengen.com or message us on Slack. We respond within 4 business hours.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01184" y="548640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Same business 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56448" y="178308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56448" y="1783080"/>
            <a:ext cx="3657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482328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📅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8430768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 to your manager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10928" y="4480560"/>
            <a:ext cx="5486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8430768" y="4617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15-min walk-through. Many questions about ratings are best handled person-to-person.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05088" y="548640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8705088" y="5486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Book via Outlook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3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are no stupid questions. We're rolling this out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48640" y="21031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get started.</a:t>
            </a:r>
            <a:endParaRPr lang="en-US" sz="8800" dirty="0"/>
          </a:p>
        </p:txBody>
      </p:sp>
      <p:sp>
        <p:nvSpPr>
          <p:cNvPr id="46" name="Shape 44"/>
          <p:cNvSpPr/>
          <p:nvPr/>
        </p:nvSpPr>
        <p:spPr>
          <a:xfrm>
            <a:off x="548640" y="3520440"/>
            <a:ext cx="1828800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703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browser and visit: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48640" y="4297680"/>
            <a:ext cx="1115568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00C3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29768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sevengen.vercel.app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future self will thank you. 💙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973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9738"/>
          </a:xfrm>
          <a:prstGeom prst="rect">
            <a:avLst/>
          </a:prstGeom>
          <a:solidFill>
            <a:srgbClr val="1D3A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9738"/>
          </a:xfrm>
          <a:prstGeom prst="rect">
            <a:avLst/>
          </a:prstGeom>
          <a:solidFill>
            <a:srgbClr val="1D3A6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9738"/>
          </a:xfrm>
          <a:prstGeom prst="rect">
            <a:avLst/>
          </a:prstGeom>
          <a:solidFill>
            <a:srgbClr val="1C39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9738"/>
          </a:xfrm>
          <a:prstGeom prst="rect">
            <a:avLst/>
          </a:prstGeom>
          <a:solidFill>
            <a:srgbClr val="1B396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9738"/>
          </a:xfrm>
          <a:prstGeom prst="rect">
            <a:avLst/>
          </a:prstGeom>
          <a:solidFill>
            <a:srgbClr val="1A396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9738"/>
          </a:xfrm>
          <a:prstGeom prst="rect">
            <a:avLst/>
          </a:prstGeom>
          <a:solidFill>
            <a:srgbClr val="1A3973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9738"/>
          </a:xfrm>
          <a:prstGeom prst="rect">
            <a:avLst/>
          </a:prstGeom>
          <a:solidFill>
            <a:srgbClr val="1939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9738"/>
          </a:xfrm>
          <a:prstGeom prst="rect">
            <a:avLst/>
          </a:prstGeom>
          <a:solidFill>
            <a:srgbClr val="18397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9738"/>
          </a:xfrm>
          <a:prstGeom prst="rect">
            <a:avLst/>
          </a:prstGeom>
          <a:solidFill>
            <a:srgbClr val="17387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9738"/>
          </a:xfrm>
          <a:prstGeom prst="rect">
            <a:avLst/>
          </a:prstGeom>
          <a:solidFill>
            <a:srgbClr val="173883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9738"/>
          </a:xfrm>
          <a:prstGeom prst="rect">
            <a:avLst/>
          </a:prstGeom>
          <a:solidFill>
            <a:srgbClr val="163887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9738"/>
          </a:xfrm>
          <a:prstGeom prst="rect">
            <a:avLst/>
          </a:prstGeom>
          <a:solidFill>
            <a:srgbClr val="15388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9738"/>
          </a:xfrm>
          <a:prstGeom prst="rect">
            <a:avLst/>
          </a:prstGeom>
          <a:solidFill>
            <a:srgbClr val="14389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9738"/>
          </a:xfrm>
          <a:prstGeom prst="rect">
            <a:avLst/>
          </a:prstGeom>
          <a:solidFill>
            <a:srgbClr val="143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9738"/>
          </a:xfrm>
          <a:prstGeom prst="rect">
            <a:avLst/>
          </a:prstGeom>
          <a:solidFill>
            <a:srgbClr val="13379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9738"/>
          </a:xfrm>
          <a:prstGeom prst="rect">
            <a:avLst/>
          </a:prstGeom>
          <a:solidFill>
            <a:srgbClr val="12379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9738"/>
          </a:xfrm>
          <a:prstGeom prst="rect">
            <a:avLst/>
          </a:prstGeom>
          <a:solidFill>
            <a:srgbClr val="1137A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9738"/>
          </a:xfrm>
          <a:prstGeom prst="rect">
            <a:avLst/>
          </a:prstGeom>
          <a:solidFill>
            <a:srgbClr val="1137A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9738"/>
          </a:xfrm>
          <a:prstGeom prst="rect">
            <a:avLst/>
          </a:prstGeom>
          <a:solidFill>
            <a:srgbClr val="103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9738"/>
          </a:xfrm>
          <a:prstGeom prst="rect">
            <a:avLst/>
          </a:prstGeom>
          <a:solidFill>
            <a:srgbClr val="0F37A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9738"/>
          </a:xfrm>
          <a:prstGeom prst="rect">
            <a:avLst/>
          </a:prstGeom>
          <a:solidFill>
            <a:srgbClr val="0E36B1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9738"/>
          </a:xfrm>
          <a:prstGeom prst="rect">
            <a:avLst/>
          </a:prstGeom>
          <a:solidFill>
            <a:srgbClr val="0D36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9738"/>
          </a:xfrm>
          <a:prstGeom prst="rect">
            <a:avLst/>
          </a:prstGeom>
          <a:solidFill>
            <a:srgbClr val="0D36B9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9738"/>
          </a:xfrm>
          <a:prstGeom prst="rect">
            <a:avLst/>
          </a:prstGeom>
          <a:solidFill>
            <a:srgbClr val="0C36BD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9738"/>
          </a:xfrm>
          <a:prstGeom prst="rect">
            <a:avLst/>
          </a:prstGeom>
          <a:solidFill>
            <a:srgbClr val="0B3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9738"/>
          </a:xfrm>
          <a:prstGeom prst="rect">
            <a:avLst/>
          </a:prstGeom>
          <a:solidFill>
            <a:srgbClr val="0B3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9738"/>
          </a:xfrm>
          <a:prstGeom prst="rect">
            <a:avLst/>
          </a:prstGeom>
          <a:solidFill>
            <a:srgbClr val="0A35C9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9738"/>
          </a:xfrm>
          <a:prstGeom prst="rect">
            <a:avLst/>
          </a:prstGeom>
          <a:solidFill>
            <a:srgbClr val="0935C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9738"/>
          </a:xfrm>
          <a:prstGeom prst="rect">
            <a:avLst/>
          </a:prstGeom>
          <a:solidFill>
            <a:srgbClr val="0835D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9738"/>
          </a:xfrm>
          <a:prstGeom prst="rect">
            <a:avLst/>
          </a:prstGeom>
          <a:solidFill>
            <a:srgbClr val="0835D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9738"/>
          </a:xfrm>
          <a:prstGeom prst="rect">
            <a:avLst/>
          </a:prstGeom>
          <a:solidFill>
            <a:srgbClr val="0735D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9738"/>
          </a:xfrm>
          <a:prstGeom prst="rect">
            <a:avLst/>
          </a:prstGeom>
          <a:solidFill>
            <a:srgbClr val="0634DE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9738"/>
          </a:xfrm>
          <a:prstGeom prst="rect">
            <a:avLst/>
          </a:prstGeom>
          <a:solidFill>
            <a:srgbClr val="0534E2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9738"/>
          </a:xfrm>
          <a:prstGeom prst="rect">
            <a:avLst/>
          </a:prstGeom>
          <a:solidFill>
            <a:srgbClr val="0534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9738"/>
          </a:xfrm>
          <a:prstGeom prst="rect">
            <a:avLst/>
          </a:prstGeom>
          <a:solidFill>
            <a:srgbClr val="0434EA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9738"/>
          </a:xfrm>
          <a:prstGeom prst="rect">
            <a:avLst/>
          </a:prstGeom>
          <a:solidFill>
            <a:srgbClr val="0334E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9738"/>
          </a:xfrm>
          <a:prstGeom prst="rect">
            <a:avLst/>
          </a:prstGeom>
          <a:solidFill>
            <a:srgbClr val="0234F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9738"/>
          </a:xfrm>
          <a:prstGeom prst="rect">
            <a:avLst/>
          </a:prstGeom>
          <a:solidFill>
            <a:srgbClr val="023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9738"/>
          </a:xfrm>
          <a:prstGeom prst="rect">
            <a:avLst/>
          </a:prstGeom>
          <a:solidFill>
            <a:srgbClr val="0133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solidFill>
            <a:srgbClr val="0033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115568" y="493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</a:t>
            </a:r>
            <a:pPr indent="0" marL="0">
              <a:buNone/>
            </a:pPr>
            <a:r>
              <a:rPr lang="en-US" sz="2800" b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48640" y="228600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aboard! 👋</a:t>
            </a:r>
            <a:endParaRPr lang="en-US" sz="7600" dirty="0"/>
          </a:p>
        </p:txBody>
      </p:sp>
      <p:sp>
        <p:nvSpPr>
          <p:cNvPr id="46" name="Shape 44"/>
          <p:cNvSpPr/>
          <p:nvPr/>
        </p:nvSpPr>
        <p:spPr>
          <a:xfrm>
            <a:off x="548640" y="3840480"/>
            <a:ext cx="1828800" cy="73152"/>
          </a:xfrm>
          <a:prstGeom prst="rect">
            <a:avLst/>
          </a:prstGeom>
          <a:solidFill>
            <a:srgbClr val="00C3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0233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grow together.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1463040" y="5303520"/>
            <a:ext cx="45262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45920" y="5468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2423160" y="5422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now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423160" y="5760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sevengen.vercel.app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17920" y="5303520"/>
            <a:ext cx="45262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3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5468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7178040" y="5422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78040" y="5760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HR or your manager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SevenGen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PMF System — Employee Welcome Guide</dc:title>
  <dc:subject>PptxGenJS Presentation</dc:subject>
  <dc:creator>SevenGen HR</dc:creator>
  <cp:lastModifiedBy>SevenGen HR</cp:lastModifiedBy>
  <cp:revision>1</cp:revision>
  <dcterms:created xsi:type="dcterms:W3CDTF">2026-05-02T05:59:01Z</dcterms:created>
  <dcterms:modified xsi:type="dcterms:W3CDTF">2026-05-02T05:59:01Z</dcterms:modified>
</cp:coreProperties>
</file>