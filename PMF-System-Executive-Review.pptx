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973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"/>
            <a:ext cx="12191695" cy="189738"/>
          </a:xfrm>
          <a:prstGeom prst="rect">
            <a:avLst/>
          </a:prstGeom>
          <a:solidFill>
            <a:srgbClr val="1D3A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"/>
            <a:ext cx="12191695" cy="189738"/>
          </a:xfrm>
          <a:prstGeom prst="rect">
            <a:avLst/>
          </a:prstGeom>
          <a:solidFill>
            <a:srgbClr val="1D3A6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12191695" cy="189738"/>
          </a:xfrm>
          <a:prstGeom prst="rect">
            <a:avLst/>
          </a:prstGeom>
          <a:solidFill>
            <a:srgbClr val="1C39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5800"/>
            <a:ext cx="12191695" cy="189738"/>
          </a:xfrm>
          <a:prstGeom prst="rect">
            <a:avLst/>
          </a:prstGeom>
          <a:solidFill>
            <a:srgbClr val="1B396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57250"/>
            <a:ext cx="12191695" cy="189738"/>
          </a:xfrm>
          <a:prstGeom prst="rect">
            <a:avLst/>
          </a:prstGeom>
          <a:solidFill>
            <a:srgbClr val="1A396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28700"/>
            <a:ext cx="12191695" cy="189738"/>
          </a:xfrm>
          <a:prstGeom prst="rect">
            <a:avLst/>
          </a:prstGeom>
          <a:solidFill>
            <a:srgbClr val="1A3973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00150"/>
            <a:ext cx="12191695" cy="189738"/>
          </a:xfrm>
          <a:prstGeom prst="rect">
            <a:avLst/>
          </a:prstGeom>
          <a:solidFill>
            <a:srgbClr val="193977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71600"/>
            <a:ext cx="12191695" cy="189738"/>
          </a:xfrm>
          <a:prstGeom prst="rect">
            <a:avLst/>
          </a:prstGeom>
          <a:solidFill>
            <a:srgbClr val="18397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543050"/>
            <a:ext cx="12191695" cy="189738"/>
          </a:xfrm>
          <a:prstGeom prst="rect">
            <a:avLst/>
          </a:prstGeom>
          <a:solidFill>
            <a:srgbClr val="17387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4500"/>
            <a:ext cx="12191695" cy="189738"/>
          </a:xfrm>
          <a:prstGeom prst="rect">
            <a:avLst/>
          </a:prstGeom>
          <a:solidFill>
            <a:srgbClr val="173883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85950"/>
            <a:ext cx="12191695" cy="189738"/>
          </a:xfrm>
          <a:prstGeom prst="rect">
            <a:avLst/>
          </a:prstGeom>
          <a:solidFill>
            <a:srgbClr val="163887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057400"/>
            <a:ext cx="12191695" cy="189738"/>
          </a:xfrm>
          <a:prstGeom prst="rect">
            <a:avLst/>
          </a:prstGeom>
          <a:solidFill>
            <a:srgbClr val="15388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228850"/>
            <a:ext cx="12191695" cy="189738"/>
          </a:xfrm>
          <a:prstGeom prst="rect">
            <a:avLst/>
          </a:prstGeom>
          <a:solidFill>
            <a:srgbClr val="14389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00300"/>
            <a:ext cx="12191695" cy="189738"/>
          </a:xfrm>
          <a:prstGeom prst="rect">
            <a:avLst/>
          </a:prstGeom>
          <a:solidFill>
            <a:srgbClr val="143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71750"/>
            <a:ext cx="12191695" cy="189738"/>
          </a:xfrm>
          <a:prstGeom prst="rect">
            <a:avLst/>
          </a:prstGeom>
          <a:solidFill>
            <a:srgbClr val="13379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743200"/>
            <a:ext cx="12191695" cy="189738"/>
          </a:xfrm>
          <a:prstGeom prst="rect">
            <a:avLst/>
          </a:prstGeom>
          <a:solidFill>
            <a:srgbClr val="12379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914650"/>
            <a:ext cx="12191695" cy="189738"/>
          </a:xfrm>
          <a:prstGeom prst="rect">
            <a:avLst/>
          </a:prstGeom>
          <a:solidFill>
            <a:srgbClr val="1137A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086100"/>
            <a:ext cx="12191695" cy="189738"/>
          </a:xfrm>
          <a:prstGeom prst="rect">
            <a:avLst/>
          </a:prstGeom>
          <a:solidFill>
            <a:srgbClr val="1137A4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257550"/>
            <a:ext cx="12191695" cy="189738"/>
          </a:xfrm>
          <a:prstGeom prst="rect">
            <a:avLst/>
          </a:prstGeom>
          <a:solidFill>
            <a:srgbClr val="1037A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429000"/>
            <a:ext cx="12191695" cy="189738"/>
          </a:xfrm>
          <a:prstGeom prst="rect">
            <a:avLst/>
          </a:prstGeom>
          <a:solidFill>
            <a:srgbClr val="0F37AD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600450"/>
            <a:ext cx="12191695" cy="189738"/>
          </a:xfrm>
          <a:prstGeom prst="rect">
            <a:avLst/>
          </a:prstGeom>
          <a:solidFill>
            <a:srgbClr val="0E36B1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771900"/>
            <a:ext cx="12191695" cy="189738"/>
          </a:xfrm>
          <a:prstGeom prst="rect">
            <a:avLst/>
          </a:prstGeom>
          <a:solidFill>
            <a:srgbClr val="0D36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943350"/>
            <a:ext cx="12191695" cy="189738"/>
          </a:xfrm>
          <a:prstGeom prst="rect">
            <a:avLst/>
          </a:prstGeom>
          <a:solidFill>
            <a:srgbClr val="0D36B9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189738"/>
          </a:xfrm>
          <a:prstGeom prst="rect">
            <a:avLst/>
          </a:prstGeom>
          <a:solidFill>
            <a:srgbClr val="0C36BD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286250"/>
            <a:ext cx="12191695" cy="189738"/>
          </a:xfrm>
          <a:prstGeom prst="rect">
            <a:avLst/>
          </a:prstGeom>
          <a:solidFill>
            <a:srgbClr val="0B3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57700"/>
            <a:ext cx="12191695" cy="189738"/>
          </a:xfrm>
          <a:prstGeom prst="rect">
            <a:avLst/>
          </a:prstGeom>
          <a:solidFill>
            <a:srgbClr val="0B35C5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29150"/>
            <a:ext cx="12191695" cy="189738"/>
          </a:xfrm>
          <a:prstGeom prst="rect">
            <a:avLst/>
          </a:prstGeom>
          <a:solidFill>
            <a:srgbClr val="0A35C9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00600"/>
            <a:ext cx="12191695" cy="189738"/>
          </a:xfrm>
          <a:prstGeom prst="rect">
            <a:avLst/>
          </a:prstGeom>
          <a:solidFill>
            <a:srgbClr val="0935CE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972050"/>
            <a:ext cx="12191695" cy="189738"/>
          </a:xfrm>
          <a:prstGeom prst="rect">
            <a:avLst/>
          </a:prstGeom>
          <a:solidFill>
            <a:srgbClr val="0835D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5143500"/>
            <a:ext cx="12191695" cy="189738"/>
          </a:xfrm>
          <a:prstGeom prst="rect">
            <a:avLst/>
          </a:prstGeom>
          <a:solidFill>
            <a:srgbClr val="0835D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314950"/>
            <a:ext cx="12191695" cy="189738"/>
          </a:xfrm>
          <a:prstGeom prst="rect">
            <a:avLst/>
          </a:prstGeom>
          <a:solidFill>
            <a:srgbClr val="0735DA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486400"/>
            <a:ext cx="12191695" cy="189738"/>
          </a:xfrm>
          <a:prstGeom prst="rect">
            <a:avLst/>
          </a:prstGeom>
          <a:solidFill>
            <a:srgbClr val="0634DE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657850"/>
            <a:ext cx="12191695" cy="189738"/>
          </a:xfrm>
          <a:prstGeom prst="rect">
            <a:avLst/>
          </a:prstGeom>
          <a:solidFill>
            <a:srgbClr val="0534E2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829300"/>
            <a:ext cx="12191695" cy="189738"/>
          </a:xfrm>
          <a:prstGeom prst="rect">
            <a:avLst/>
          </a:prstGeom>
          <a:solidFill>
            <a:srgbClr val="0534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000750"/>
            <a:ext cx="12191695" cy="189738"/>
          </a:xfrm>
          <a:prstGeom prst="rect">
            <a:avLst/>
          </a:prstGeom>
          <a:solidFill>
            <a:srgbClr val="0434EA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172200"/>
            <a:ext cx="12191695" cy="189738"/>
          </a:xfrm>
          <a:prstGeom prst="rect">
            <a:avLst/>
          </a:prstGeom>
          <a:solidFill>
            <a:srgbClr val="0334E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343650"/>
            <a:ext cx="12191695" cy="189738"/>
          </a:xfrm>
          <a:prstGeom prst="rect">
            <a:avLst/>
          </a:prstGeom>
          <a:solidFill>
            <a:srgbClr val="023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15100"/>
            <a:ext cx="12191695" cy="189738"/>
          </a:xfrm>
          <a:prstGeom prst="rect">
            <a:avLst/>
          </a:prstGeom>
          <a:solidFill>
            <a:srgbClr val="023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86550"/>
            <a:ext cx="12191695" cy="189738"/>
          </a:xfrm>
          <a:prstGeom prst="rect">
            <a:avLst/>
          </a:prstGeom>
          <a:solidFill>
            <a:srgbClr val="0133FB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115568" y="4937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</a:t>
            </a:r>
            <a:pPr indent="0" marL="0">
              <a:buNone/>
            </a:pPr>
            <a:r>
              <a:rPr lang="en-US" sz="28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548640" y="2103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REVIEW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246888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8400" dirty="0"/>
          </a:p>
        </p:txBody>
      </p:sp>
      <p:sp>
        <p:nvSpPr>
          <p:cNvPr id="47" name="Text 45"/>
          <p:cNvSpPr/>
          <p:nvPr/>
        </p:nvSpPr>
        <p:spPr>
          <a:xfrm>
            <a:off x="548640" y="40233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manual PDFs to a unified, AI-assisted platform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548640" y="4663440"/>
            <a:ext cx="1371600" cy="45720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846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companies · 50+ features · $0 cost · Live in production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5669280"/>
            <a:ext cx="128016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5669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Live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011680" y="5669280"/>
            <a:ext cx="128016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2011680" y="5669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AI-powered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474720" y="5669280"/>
            <a:ext cx="128016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3474720" y="5669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Compliant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937760" y="5669280"/>
            <a:ext cx="128016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937760" y="5669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Free-tier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replaced PDFs and email chains with a </a:t>
            </a:r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web platform</a:t>
            </a:r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automates performance reviews end-to-end across all four companies.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37160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251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in production, free to operate, ready for company-wide rollout.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783080"/>
            <a:ext cx="22860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783080"/>
            <a:ext cx="2286000" cy="73152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8580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SHIPPED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26880" y="1783080"/>
            <a:ext cx="22860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1783080"/>
            <a:ext cx="2286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3268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 SUPPORTED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3474720"/>
            <a:ext cx="22860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3474720"/>
            <a:ext cx="22860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85800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SAVED PER REVIEW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26880" y="3474720"/>
            <a:ext cx="22860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3474720"/>
            <a:ext cx="2286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932688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COST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replaced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5544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2316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📎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emailed back and forth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attached, replied to, forwarded — no single source of truth.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42316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42316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31520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historical visibility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0" y="30175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 reviews buried in inboxes and shared drives. Trends invisible.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59352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59352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422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📞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554480" y="4142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chases everyone manually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455371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calls, pings, follow-up emails for every due date.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3959352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959352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1422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🧮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315200" y="4142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scoring with calculator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15200" y="455371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Error-prone math copy-pasted between spreadsheets.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495544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495544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67842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🧩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554480" y="5678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Inconsistent forms across teams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54480" y="60899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versions, custom edits, drift over time.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5495544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5495544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567842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7315200" y="5678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reports built ad-hoc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315200" y="60899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data wrangling each time DOLE asks for tenure or training reports.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 instead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5544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2316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web app for everyone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HR, managers, employees all log in. Real-time data, real-time status.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42316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42316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31520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Auto-calculated scoring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0" y="30175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formula matches your PDFs byte-for-byte. Zero math errors.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59352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59352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422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554480" y="4142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Auto-emails + daily reminders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455371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notifications fire automatically. HR never chases again.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3959352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959352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1422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315200" y="4142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AI-drafted feedback (Claude)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15200" y="455371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strengths, dev goals, summaries from ratings. ~30 min saved.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495544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495544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67842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554480" y="5678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+ audit baked in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54480" y="60899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logged. Tenure, probation, PIP reports exportable.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5495544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5495544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567842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7315200" y="5678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globally, scales to thousands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315200" y="60899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on Vercel + Neon. Always on. No IT infrastructure needed.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roles, four workflow stages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3657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83080"/>
            <a:ext cx="36576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Self-assess only · View own PMFs · Sign · Print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657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783080"/>
            <a:ext cx="36576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reports · Rate + comment · Submit recommendation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783080"/>
            <a:ext cx="3657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783080"/>
            <a:ext cx="3657600" cy="4114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ADMIN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access · Edit templates · Finalize · Analytics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657600"/>
            <a:ext cx="22860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383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fills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4434840"/>
            <a:ext cx="22860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74720" y="3657600"/>
            <a:ext cx="22860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3832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7472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1188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rates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4434840"/>
            <a:ext cx="22860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72200" y="3657600"/>
            <a:ext cx="22860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3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3383280"/>
            <a:ext cx="548640" cy="548640"/>
          </a:xfrm>
          <a:prstGeom prst="ellipse">
            <a:avLst/>
          </a:prstGeom>
          <a:solidFill>
            <a:srgbClr val="0033FF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17220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0936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approves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49640" y="4434840"/>
            <a:ext cx="22860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869680" y="3657600"/>
            <a:ext cx="22860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38360" y="338328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97383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86968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0684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 / shared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557784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</a:t>
            </a:r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Auto-emails + in-app notifications + daily cron jobs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 at every transition. Nothing falls through the cracks.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PMF TEMPLATES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your forms, matched exactly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532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83080"/>
            <a:ext cx="5532120" cy="91440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74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EMPLOYEE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Quarterly Evaluation · 5 parts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27889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Krystle Tacpalan's Q4 2025 PMF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200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Contributions and Achievements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767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7673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Competencies (5 items)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3767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3342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III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43342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Goals (3 goals)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43342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9011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49011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Strengths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49011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4681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54681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 &amp; Recommendation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5468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1783080"/>
            <a:ext cx="5532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1783080"/>
            <a:ext cx="55321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1874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PROBATIONARY / CONTRACTUAL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&amp; Core Values · 4 parts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629400" y="27889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Janella Jose's Apr 2026 Assessment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3200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3200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Metrics (6 categories)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7280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29400" y="3767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35240" y="37673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Values (9 categories)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0" y="3767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29400" y="43342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III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35240" y="43342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Rating (auto-calc)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972800" y="43342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29400" y="49011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IV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35240" y="49011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Plan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972800" y="49011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29400" y="54681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35240" y="54681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Recommendation: Regularize / Extend / Terminate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972800" y="5468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FEATURE INVENTORY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that's already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83080"/>
            <a:ext cx="3657600" cy="45720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Core PMF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Quarterly + Probationary forms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Half-point ratings 1.0–5.0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Auto-weighted scoring (PDF formula)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Self-assess → Manager → HR workflow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Justification on every rating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Workflow state validation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178308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0832" y="1783080"/>
            <a:ext cx="36576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Performance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3774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Goal tracking (cycle-based)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1:1 meeting notes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Performance Improvement Plans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Career paths / IDP ladders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Team Compare grid view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Performance history charts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Department heat 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3024" y="178308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93024" y="1783080"/>
            <a:ext cx="36576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🎉 Engagement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21624" y="23774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Continuous Kudos / Recognition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🔔 In-app notification bell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Auto-emails on every step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Anniversaries widget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🎓 Onboarding tour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251960"/>
            <a:ext cx="36576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51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Compliance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8463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 audit log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Digital signatures (drawn)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Document attachments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Probation alerts (30/14/3 days)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Compliance reports → CSV export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Flight risk auto-detect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70832" y="425196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70832" y="4251960"/>
            <a:ext cx="365760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4251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AI &amp; Automation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9432" y="48463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AI feedback drafting (Claude)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Auto-assign on hire date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Daily reminder cron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Bulk import / bulk delete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PDF template extraction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Branded PDF/print export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93024" y="425196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93024" y="4251960"/>
            <a:ext cx="3657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4251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People &amp; Setup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21624" y="48463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3 roles · 4 companies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Tabbed employee filtering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Department auto-suggest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Move probationary → regular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Multi-cycle support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Microsoft 365 SSO ready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AI ASSISTANCE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AI drafts feedback for managers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0292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83080"/>
            <a:ext cx="91440" cy="457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✨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Saves managers 20–30 min per review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Click Rating → ✨ AI Draft → justification appears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087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Auto-generates Strengths &amp; Developmental Goals from ratings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471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Suggests SMART next-quarter goals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855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Manager edits or accepts as-is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5239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AI requests logged in audit trail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Cost: ~$0.003 per draft (~₱0.17)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looks in the app: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5669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2468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Collaboration and Leadership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788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together with the team by being dependable.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20040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4 - Exceeds Expectations  ▾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3749040"/>
            <a:ext cx="5212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840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 consistently demonstrates collaborative behavior, mentoring junior team members and stepping in to help across functions when needed. Her dependability has been a stabilizing force during high-pressure quarters.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424160" y="3840480"/>
            <a:ext cx="9601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0" y="38404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AI Draft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5577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Generated by Claude in ~2 seconds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ROI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Quantifiable time savings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180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time spent per review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workflow drops from ~45 min to ~13 min per employee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quarterly review, per employee: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240280"/>
            <a:ext cx="6675120" cy="45720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3544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697480"/>
            <a:ext cx="6675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Filling out the form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3544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2416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−7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3154680"/>
            <a:ext cx="66751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justifications  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2416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−9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3611880"/>
            <a:ext cx="6675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Drafting strengths section  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3544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42416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−6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0" y="4069080"/>
            <a:ext cx="66751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Drafting development goals  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3544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42416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−6 min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4526280"/>
            <a:ext cx="6675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4526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Calculating overall score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min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42416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−5 min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0" y="4983480"/>
            <a:ext cx="66751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Sending to HR for review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46720" y="4983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35440" y="4983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min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424160" y="4983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 min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29200" y="5440680"/>
            <a:ext cx="667512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9" name="Text 47"/>
          <p:cNvSpPr/>
          <p:nvPr/>
        </p:nvSpPr>
        <p:spPr>
          <a:xfrm>
            <a:off x="5166360" y="5440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046720" y="5440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 min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235440" y="5440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424160" y="5440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−36 min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29200" y="6080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ai-assisted   ·   At ~200 reviews/year = ~120 hours of manager time saved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BUILD VS. BUY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 vs. what we'd pay for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1091672" cy="50292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Templates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Drafting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PDF/CSV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0" y="1783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286000"/>
            <a:ext cx="110916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Workday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$25-30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/employee/mo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0" y="22860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2926080"/>
            <a:ext cx="11091672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BambooHR Performance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$8-12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/employee/mo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0" y="29260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110916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Lattice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4048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$11-15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/employee/mo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3566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2104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0" y="3566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972800" y="35661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4206240"/>
            <a:ext cx="11091672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206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15Five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840480" y="4206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$10-14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/employee/mo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94960" y="4206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49440" y="4206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21040" y="4206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01200" y="4206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972800" y="42062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48640" y="4846320"/>
            <a:ext cx="11091672" cy="64008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4846320"/>
            <a:ext cx="73152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 PMF (ours)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840480" y="4846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free tier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94960" y="4846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949440" y="4846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+ AI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321040" y="4846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601200" y="4846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0972800" y="48463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48640" y="5486400"/>
            <a:ext cx="11091672" cy="77724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59" name="Text 57"/>
          <p:cNvSpPr/>
          <p:nvPr/>
        </p:nvSpPr>
        <p:spPr>
          <a:xfrm>
            <a:off x="777240" y="548640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100 employees, competitors charge </a:t>
            </a:r>
            <a:pPr indent="0" marL="0">
              <a:buNone/>
            </a:pPr>
            <a:r>
              <a:rPr lang="en-US" sz="14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$10,000–$36,000/year.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system: $0/year + ~$2 for AI calls.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SECURITY &amp; COMPLIANCE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enterprise trust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83080"/>
            <a:ext cx="54864" cy="10972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45920" y="1947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+ bcrypt authentication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350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Industry-standard hashing. SSO-ready for Microsoft 365.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78308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783080"/>
            <a:ext cx="54864" cy="10972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296912" y="1947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 (RBAC)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96912" y="2350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enforced on every API route. No client-side bypass.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99232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999232"/>
            <a:ext cx="54864" cy="10972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36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45920" y="31638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audit log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3566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save, transition, view, edit, and delete logged with actor + timestamp.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2999232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2999232"/>
            <a:ext cx="54864" cy="10972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3136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296912" y="31638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everywhere · TLS 1.3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96912" y="3566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Vercel-managed certificates, auto-renewed.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15384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15384"/>
            <a:ext cx="54864" cy="10972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352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🚦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645920" y="43799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state machine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45920" y="47823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skip steps. Cannot edit finalized PMFs without HR re-open.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4215384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4215384"/>
            <a:ext cx="54864" cy="10972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4352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296912" y="43799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preservation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96912" y="47823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 lock once used. Old data never overwritten.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431536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431536"/>
            <a:ext cx="54864" cy="10972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55686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1645920" y="5596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DOLE-friendly compliance reports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645920" y="59984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Tenure, probation, training, PIPs — exportable to CSV.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99632" y="5431536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5431536"/>
            <a:ext cx="54864" cy="10972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6" name="Text 44"/>
          <p:cNvSpPr/>
          <p:nvPr/>
        </p:nvSpPr>
        <p:spPr>
          <a:xfrm>
            <a:off x="6382512" y="55686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🇵🇭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7296912" y="5596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Filipino labor compliance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296912" y="59984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6-month probation auto-tracking with 30/14/3-day alerts.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Lightweight, scalable, $0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828800"/>
            <a:ext cx="94183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3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1828800"/>
            <a:ext cx="1371600" cy="114300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82880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· Manager · Employee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 · React · Tailwind · Chart.js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97180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371600" y="3154680"/>
            <a:ext cx="94183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3154680"/>
            <a:ext cx="1371600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15468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3337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app + cron jobs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API · NextAuth · RBAC · Workflow engine · 3 daily crons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429768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371600" y="4480560"/>
            <a:ext cx="94183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0" y="4480560"/>
            <a:ext cx="1371600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48056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2608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Singapore region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26080" y="5074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Auto-backups · PITR · Free 0.5 GB tier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pluggable integrations: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5806440"/>
            <a:ext cx="21031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5806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SMTP (Gmail/SES/Office 365)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0" y="5806440"/>
            <a:ext cx="21031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5806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Anthropic Claude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326880" y="5806440"/>
            <a:ext cx="21031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5806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Microsoft 365 SSO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Phased company-wide rollout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783080"/>
            <a:ext cx="269748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971800"/>
            <a:ext cx="4572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546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HR + Talent Mgmt team only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Validate workflow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Refine templates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Train 5 managers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01568" y="17830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01568" y="1783080"/>
            <a:ext cx="2697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584448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2-3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0168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Roll-Out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30168" y="2971800"/>
            <a:ext cx="4572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30168" y="31546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7GEN dept by dept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Bulk-import all employees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Auto-assign Q3 cycle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Send first reminders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08776" y="17830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08776" y="1783080"/>
            <a:ext cx="269748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 Companies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37376" y="2971800"/>
            <a:ext cx="457200" cy="36576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37376" y="31546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Onboard M2.0 + MMI + Rythmos DB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Custom domain pmf.sevengen.com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Microsoft 365 SSO live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Branded email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15984" y="17830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015984" y="1783080"/>
            <a:ext cx="26974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9198864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44584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44584" y="2971800"/>
            <a:ext cx="4572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9244584" y="31546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Quarterly cycle automation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Year-over-year analytics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AI feedback at scale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Iterate on feedback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080760"/>
            <a:ext cx="1109167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608076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 </a:t>
            </a:r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time to full rollout: </a:t>
            </a:r>
            <a:pPr indent="0" marL="0">
              <a:buNone/>
            </a:pPr>
            <a:r>
              <a:rPr lang="en-US" sz="13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 weeks.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of weeks 1–2 fits in 1–2 days since the platform is already live.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973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"/>
            <a:ext cx="12191695" cy="189738"/>
          </a:xfrm>
          <a:prstGeom prst="rect">
            <a:avLst/>
          </a:prstGeom>
          <a:solidFill>
            <a:srgbClr val="1D3A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"/>
            <a:ext cx="12191695" cy="189738"/>
          </a:xfrm>
          <a:prstGeom prst="rect">
            <a:avLst/>
          </a:prstGeom>
          <a:solidFill>
            <a:srgbClr val="1D3A6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12191695" cy="189738"/>
          </a:xfrm>
          <a:prstGeom prst="rect">
            <a:avLst/>
          </a:prstGeom>
          <a:solidFill>
            <a:srgbClr val="1C39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5800"/>
            <a:ext cx="12191695" cy="189738"/>
          </a:xfrm>
          <a:prstGeom prst="rect">
            <a:avLst/>
          </a:prstGeom>
          <a:solidFill>
            <a:srgbClr val="1B396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57250"/>
            <a:ext cx="12191695" cy="189738"/>
          </a:xfrm>
          <a:prstGeom prst="rect">
            <a:avLst/>
          </a:prstGeom>
          <a:solidFill>
            <a:srgbClr val="1A396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28700"/>
            <a:ext cx="12191695" cy="189738"/>
          </a:xfrm>
          <a:prstGeom prst="rect">
            <a:avLst/>
          </a:prstGeom>
          <a:solidFill>
            <a:srgbClr val="1A3973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00150"/>
            <a:ext cx="12191695" cy="189738"/>
          </a:xfrm>
          <a:prstGeom prst="rect">
            <a:avLst/>
          </a:prstGeom>
          <a:solidFill>
            <a:srgbClr val="193977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71600"/>
            <a:ext cx="12191695" cy="189738"/>
          </a:xfrm>
          <a:prstGeom prst="rect">
            <a:avLst/>
          </a:prstGeom>
          <a:solidFill>
            <a:srgbClr val="18397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543050"/>
            <a:ext cx="12191695" cy="189738"/>
          </a:xfrm>
          <a:prstGeom prst="rect">
            <a:avLst/>
          </a:prstGeom>
          <a:solidFill>
            <a:srgbClr val="17387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4500"/>
            <a:ext cx="12191695" cy="189738"/>
          </a:xfrm>
          <a:prstGeom prst="rect">
            <a:avLst/>
          </a:prstGeom>
          <a:solidFill>
            <a:srgbClr val="173883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85950"/>
            <a:ext cx="12191695" cy="189738"/>
          </a:xfrm>
          <a:prstGeom prst="rect">
            <a:avLst/>
          </a:prstGeom>
          <a:solidFill>
            <a:srgbClr val="163887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057400"/>
            <a:ext cx="12191695" cy="189738"/>
          </a:xfrm>
          <a:prstGeom prst="rect">
            <a:avLst/>
          </a:prstGeom>
          <a:solidFill>
            <a:srgbClr val="15388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228850"/>
            <a:ext cx="12191695" cy="189738"/>
          </a:xfrm>
          <a:prstGeom prst="rect">
            <a:avLst/>
          </a:prstGeom>
          <a:solidFill>
            <a:srgbClr val="14389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00300"/>
            <a:ext cx="12191695" cy="189738"/>
          </a:xfrm>
          <a:prstGeom prst="rect">
            <a:avLst/>
          </a:prstGeom>
          <a:solidFill>
            <a:srgbClr val="143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71750"/>
            <a:ext cx="12191695" cy="189738"/>
          </a:xfrm>
          <a:prstGeom prst="rect">
            <a:avLst/>
          </a:prstGeom>
          <a:solidFill>
            <a:srgbClr val="13379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743200"/>
            <a:ext cx="12191695" cy="189738"/>
          </a:xfrm>
          <a:prstGeom prst="rect">
            <a:avLst/>
          </a:prstGeom>
          <a:solidFill>
            <a:srgbClr val="12379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914650"/>
            <a:ext cx="12191695" cy="189738"/>
          </a:xfrm>
          <a:prstGeom prst="rect">
            <a:avLst/>
          </a:prstGeom>
          <a:solidFill>
            <a:srgbClr val="1137A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086100"/>
            <a:ext cx="12191695" cy="189738"/>
          </a:xfrm>
          <a:prstGeom prst="rect">
            <a:avLst/>
          </a:prstGeom>
          <a:solidFill>
            <a:srgbClr val="1137A4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257550"/>
            <a:ext cx="12191695" cy="189738"/>
          </a:xfrm>
          <a:prstGeom prst="rect">
            <a:avLst/>
          </a:prstGeom>
          <a:solidFill>
            <a:srgbClr val="1037A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429000"/>
            <a:ext cx="12191695" cy="189738"/>
          </a:xfrm>
          <a:prstGeom prst="rect">
            <a:avLst/>
          </a:prstGeom>
          <a:solidFill>
            <a:srgbClr val="0F37AD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600450"/>
            <a:ext cx="12191695" cy="189738"/>
          </a:xfrm>
          <a:prstGeom prst="rect">
            <a:avLst/>
          </a:prstGeom>
          <a:solidFill>
            <a:srgbClr val="0E36B1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771900"/>
            <a:ext cx="12191695" cy="189738"/>
          </a:xfrm>
          <a:prstGeom prst="rect">
            <a:avLst/>
          </a:prstGeom>
          <a:solidFill>
            <a:srgbClr val="0D36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943350"/>
            <a:ext cx="12191695" cy="189738"/>
          </a:xfrm>
          <a:prstGeom prst="rect">
            <a:avLst/>
          </a:prstGeom>
          <a:solidFill>
            <a:srgbClr val="0D36B9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189738"/>
          </a:xfrm>
          <a:prstGeom prst="rect">
            <a:avLst/>
          </a:prstGeom>
          <a:solidFill>
            <a:srgbClr val="0C36BD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286250"/>
            <a:ext cx="12191695" cy="189738"/>
          </a:xfrm>
          <a:prstGeom prst="rect">
            <a:avLst/>
          </a:prstGeom>
          <a:solidFill>
            <a:srgbClr val="0B3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57700"/>
            <a:ext cx="12191695" cy="189738"/>
          </a:xfrm>
          <a:prstGeom prst="rect">
            <a:avLst/>
          </a:prstGeom>
          <a:solidFill>
            <a:srgbClr val="0B35C5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29150"/>
            <a:ext cx="12191695" cy="189738"/>
          </a:xfrm>
          <a:prstGeom prst="rect">
            <a:avLst/>
          </a:prstGeom>
          <a:solidFill>
            <a:srgbClr val="0A35C9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00600"/>
            <a:ext cx="12191695" cy="189738"/>
          </a:xfrm>
          <a:prstGeom prst="rect">
            <a:avLst/>
          </a:prstGeom>
          <a:solidFill>
            <a:srgbClr val="0935CE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972050"/>
            <a:ext cx="12191695" cy="189738"/>
          </a:xfrm>
          <a:prstGeom prst="rect">
            <a:avLst/>
          </a:prstGeom>
          <a:solidFill>
            <a:srgbClr val="0835D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5143500"/>
            <a:ext cx="12191695" cy="189738"/>
          </a:xfrm>
          <a:prstGeom prst="rect">
            <a:avLst/>
          </a:prstGeom>
          <a:solidFill>
            <a:srgbClr val="0835D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314950"/>
            <a:ext cx="12191695" cy="189738"/>
          </a:xfrm>
          <a:prstGeom prst="rect">
            <a:avLst/>
          </a:prstGeom>
          <a:solidFill>
            <a:srgbClr val="0735DA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486400"/>
            <a:ext cx="12191695" cy="189738"/>
          </a:xfrm>
          <a:prstGeom prst="rect">
            <a:avLst/>
          </a:prstGeom>
          <a:solidFill>
            <a:srgbClr val="0634DE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657850"/>
            <a:ext cx="12191695" cy="189738"/>
          </a:xfrm>
          <a:prstGeom prst="rect">
            <a:avLst/>
          </a:prstGeom>
          <a:solidFill>
            <a:srgbClr val="0534E2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829300"/>
            <a:ext cx="12191695" cy="189738"/>
          </a:xfrm>
          <a:prstGeom prst="rect">
            <a:avLst/>
          </a:prstGeom>
          <a:solidFill>
            <a:srgbClr val="0534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000750"/>
            <a:ext cx="12191695" cy="189738"/>
          </a:xfrm>
          <a:prstGeom prst="rect">
            <a:avLst/>
          </a:prstGeom>
          <a:solidFill>
            <a:srgbClr val="0434EA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172200"/>
            <a:ext cx="12191695" cy="189738"/>
          </a:xfrm>
          <a:prstGeom prst="rect">
            <a:avLst/>
          </a:prstGeom>
          <a:solidFill>
            <a:srgbClr val="0334E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343650"/>
            <a:ext cx="12191695" cy="189738"/>
          </a:xfrm>
          <a:prstGeom prst="rect">
            <a:avLst/>
          </a:prstGeom>
          <a:solidFill>
            <a:srgbClr val="023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15100"/>
            <a:ext cx="12191695" cy="189738"/>
          </a:xfrm>
          <a:prstGeom prst="rect">
            <a:avLst/>
          </a:prstGeom>
          <a:solidFill>
            <a:srgbClr val="023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86550"/>
            <a:ext cx="12191695" cy="189738"/>
          </a:xfrm>
          <a:prstGeom prst="rect">
            <a:avLst/>
          </a:prstGeom>
          <a:solidFill>
            <a:srgbClr val="0133FB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115568" y="4937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</a:t>
            </a:r>
            <a:pPr indent="0" marL="0">
              <a:buNone/>
            </a:pPr>
            <a:r>
              <a:rPr lang="en-US" sz="28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</a:t>
            </a:r>
            <a:endParaRPr lang="en-US" sz="2800" dirty="0"/>
          </a:p>
        </p:txBody>
      </p:sp>
      <p:sp>
        <p:nvSpPr>
          <p:cNvPr id="45" name="Shape 43"/>
          <p:cNvSpPr/>
          <p:nvPr/>
        </p:nvSpPr>
        <p:spPr>
          <a:xfrm>
            <a:off x="548640" y="1691640"/>
            <a:ext cx="109728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LIVE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21488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6400" dirty="0"/>
          </a:p>
        </p:txBody>
      </p:sp>
      <p:sp>
        <p:nvSpPr>
          <p:cNvPr id="48" name="Shape 46"/>
          <p:cNvSpPr/>
          <p:nvPr/>
        </p:nvSpPr>
        <p:spPr>
          <a:xfrm>
            <a:off x="548640" y="3429000"/>
            <a:ext cx="1828800" cy="73152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35661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pmf.sevengen.com (custom domain coming)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48640" y="42519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LOGINS  ·  PASSWORD: password123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466344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4663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Admin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377440" y="46634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hr@company.com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217920" y="466344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4663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046720" y="46634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katlyn@company.com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48640" y="516636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5166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2377440" y="51663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employee@company.com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217920" y="516636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5166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Probationary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046720" y="51663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probationary@company.com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$0 cost  ·  ✓ Unlimited users  ·  ✓ Runs 24/7  ·  ✓ Auto-scales  ·  ✓ AI-powered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· 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need from leadership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· Executive Review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to proceed with company-wide rollout.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Below are the only commitments we need to make this real.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342900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Greenlight to roll out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937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with HR + TM team week 1. Then expand company by company.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5715000"/>
            <a:ext cx="25603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715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Cost: $0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52544" y="31089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15584" y="34290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815584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626864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support for SSO + DNS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26864" y="4937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OAuth registration. CNAME record for pmf.sevengen.com.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01184" y="5715000"/>
            <a:ext cx="25603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901184" y="5715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 min IT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56448" y="31089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19488" y="342900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9619488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430768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feature budget (optional)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30768" y="4937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API key. Charged per use, very low volume.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05088" y="5715000"/>
            <a:ext cx="25603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8705088" y="5715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 $5–15 / month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973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"/>
            <a:ext cx="12191695" cy="189738"/>
          </a:xfrm>
          <a:prstGeom prst="rect">
            <a:avLst/>
          </a:prstGeom>
          <a:solidFill>
            <a:srgbClr val="1D3A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"/>
            <a:ext cx="12191695" cy="189738"/>
          </a:xfrm>
          <a:prstGeom prst="rect">
            <a:avLst/>
          </a:prstGeom>
          <a:solidFill>
            <a:srgbClr val="1D3A6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12191695" cy="189738"/>
          </a:xfrm>
          <a:prstGeom prst="rect">
            <a:avLst/>
          </a:prstGeom>
          <a:solidFill>
            <a:srgbClr val="1C39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5800"/>
            <a:ext cx="12191695" cy="189738"/>
          </a:xfrm>
          <a:prstGeom prst="rect">
            <a:avLst/>
          </a:prstGeom>
          <a:solidFill>
            <a:srgbClr val="1B396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57250"/>
            <a:ext cx="12191695" cy="189738"/>
          </a:xfrm>
          <a:prstGeom prst="rect">
            <a:avLst/>
          </a:prstGeom>
          <a:solidFill>
            <a:srgbClr val="1A396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28700"/>
            <a:ext cx="12191695" cy="189738"/>
          </a:xfrm>
          <a:prstGeom prst="rect">
            <a:avLst/>
          </a:prstGeom>
          <a:solidFill>
            <a:srgbClr val="1A3973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00150"/>
            <a:ext cx="12191695" cy="189738"/>
          </a:xfrm>
          <a:prstGeom prst="rect">
            <a:avLst/>
          </a:prstGeom>
          <a:solidFill>
            <a:srgbClr val="193977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71600"/>
            <a:ext cx="12191695" cy="189738"/>
          </a:xfrm>
          <a:prstGeom prst="rect">
            <a:avLst/>
          </a:prstGeom>
          <a:solidFill>
            <a:srgbClr val="18397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543050"/>
            <a:ext cx="12191695" cy="189738"/>
          </a:xfrm>
          <a:prstGeom prst="rect">
            <a:avLst/>
          </a:prstGeom>
          <a:solidFill>
            <a:srgbClr val="17387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4500"/>
            <a:ext cx="12191695" cy="189738"/>
          </a:xfrm>
          <a:prstGeom prst="rect">
            <a:avLst/>
          </a:prstGeom>
          <a:solidFill>
            <a:srgbClr val="173883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85950"/>
            <a:ext cx="12191695" cy="189738"/>
          </a:xfrm>
          <a:prstGeom prst="rect">
            <a:avLst/>
          </a:prstGeom>
          <a:solidFill>
            <a:srgbClr val="163887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057400"/>
            <a:ext cx="12191695" cy="189738"/>
          </a:xfrm>
          <a:prstGeom prst="rect">
            <a:avLst/>
          </a:prstGeom>
          <a:solidFill>
            <a:srgbClr val="15388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228850"/>
            <a:ext cx="12191695" cy="189738"/>
          </a:xfrm>
          <a:prstGeom prst="rect">
            <a:avLst/>
          </a:prstGeom>
          <a:solidFill>
            <a:srgbClr val="14389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00300"/>
            <a:ext cx="12191695" cy="189738"/>
          </a:xfrm>
          <a:prstGeom prst="rect">
            <a:avLst/>
          </a:prstGeom>
          <a:solidFill>
            <a:srgbClr val="143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71750"/>
            <a:ext cx="12191695" cy="189738"/>
          </a:xfrm>
          <a:prstGeom prst="rect">
            <a:avLst/>
          </a:prstGeom>
          <a:solidFill>
            <a:srgbClr val="13379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743200"/>
            <a:ext cx="12191695" cy="189738"/>
          </a:xfrm>
          <a:prstGeom prst="rect">
            <a:avLst/>
          </a:prstGeom>
          <a:solidFill>
            <a:srgbClr val="12379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914650"/>
            <a:ext cx="12191695" cy="189738"/>
          </a:xfrm>
          <a:prstGeom prst="rect">
            <a:avLst/>
          </a:prstGeom>
          <a:solidFill>
            <a:srgbClr val="1137A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086100"/>
            <a:ext cx="12191695" cy="189738"/>
          </a:xfrm>
          <a:prstGeom prst="rect">
            <a:avLst/>
          </a:prstGeom>
          <a:solidFill>
            <a:srgbClr val="1137A4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257550"/>
            <a:ext cx="12191695" cy="189738"/>
          </a:xfrm>
          <a:prstGeom prst="rect">
            <a:avLst/>
          </a:prstGeom>
          <a:solidFill>
            <a:srgbClr val="1037A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429000"/>
            <a:ext cx="12191695" cy="189738"/>
          </a:xfrm>
          <a:prstGeom prst="rect">
            <a:avLst/>
          </a:prstGeom>
          <a:solidFill>
            <a:srgbClr val="0F37AD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600450"/>
            <a:ext cx="12191695" cy="189738"/>
          </a:xfrm>
          <a:prstGeom prst="rect">
            <a:avLst/>
          </a:prstGeom>
          <a:solidFill>
            <a:srgbClr val="0E36B1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771900"/>
            <a:ext cx="12191695" cy="189738"/>
          </a:xfrm>
          <a:prstGeom prst="rect">
            <a:avLst/>
          </a:prstGeom>
          <a:solidFill>
            <a:srgbClr val="0D36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943350"/>
            <a:ext cx="12191695" cy="189738"/>
          </a:xfrm>
          <a:prstGeom prst="rect">
            <a:avLst/>
          </a:prstGeom>
          <a:solidFill>
            <a:srgbClr val="0D36B9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189738"/>
          </a:xfrm>
          <a:prstGeom prst="rect">
            <a:avLst/>
          </a:prstGeom>
          <a:solidFill>
            <a:srgbClr val="0C36BD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286250"/>
            <a:ext cx="12191695" cy="189738"/>
          </a:xfrm>
          <a:prstGeom prst="rect">
            <a:avLst/>
          </a:prstGeom>
          <a:solidFill>
            <a:srgbClr val="0B3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57700"/>
            <a:ext cx="12191695" cy="189738"/>
          </a:xfrm>
          <a:prstGeom prst="rect">
            <a:avLst/>
          </a:prstGeom>
          <a:solidFill>
            <a:srgbClr val="0B35C5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29150"/>
            <a:ext cx="12191695" cy="189738"/>
          </a:xfrm>
          <a:prstGeom prst="rect">
            <a:avLst/>
          </a:prstGeom>
          <a:solidFill>
            <a:srgbClr val="0A35C9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00600"/>
            <a:ext cx="12191695" cy="189738"/>
          </a:xfrm>
          <a:prstGeom prst="rect">
            <a:avLst/>
          </a:prstGeom>
          <a:solidFill>
            <a:srgbClr val="0935CE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972050"/>
            <a:ext cx="12191695" cy="189738"/>
          </a:xfrm>
          <a:prstGeom prst="rect">
            <a:avLst/>
          </a:prstGeom>
          <a:solidFill>
            <a:srgbClr val="0835D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5143500"/>
            <a:ext cx="12191695" cy="189738"/>
          </a:xfrm>
          <a:prstGeom prst="rect">
            <a:avLst/>
          </a:prstGeom>
          <a:solidFill>
            <a:srgbClr val="0835D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314950"/>
            <a:ext cx="12191695" cy="189738"/>
          </a:xfrm>
          <a:prstGeom prst="rect">
            <a:avLst/>
          </a:prstGeom>
          <a:solidFill>
            <a:srgbClr val="0735DA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486400"/>
            <a:ext cx="12191695" cy="189738"/>
          </a:xfrm>
          <a:prstGeom prst="rect">
            <a:avLst/>
          </a:prstGeom>
          <a:solidFill>
            <a:srgbClr val="0634DE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657850"/>
            <a:ext cx="12191695" cy="189738"/>
          </a:xfrm>
          <a:prstGeom prst="rect">
            <a:avLst/>
          </a:prstGeom>
          <a:solidFill>
            <a:srgbClr val="0534E2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829300"/>
            <a:ext cx="12191695" cy="189738"/>
          </a:xfrm>
          <a:prstGeom prst="rect">
            <a:avLst/>
          </a:prstGeom>
          <a:solidFill>
            <a:srgbClr val="0534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000750"/>
            <a:ext cx="12191695" cy="189738"/>
          </a:xfrm>
          <a:prstGeom prst="rect">
            <a:avLst/>
          </a:prstGeom>
          <a:solidFill>
            <a:srgbClr val="0434EA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172200"/>
            <a:ext cx="12191695" cy="189738"/>
          </a:xfrm>
          <a:prstGeom prst="rect">
            <a:avLst/>
          </a:prstGeom>
          <a:solidFill>
            <a:srgbClr val="0334E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343650"/>
            <a:ext cx="12191695" cy="189738"/>
          </a:xfrm>
          <a:prstGeom prst="rect">
            <a:avLst/>
          </a:prstGeom>
          <a:solidFill>
            <a:srgbClr val="023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15100"/>
            <a:ext cx="12191695" cy="189738"/>
          </a:xfrm>
          <a:prstGeom prst="rect">
            <a:avLst/>
          </a:prstGeom>
          <a:solidFill>
            <a:srgbClr val="023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86550"/>
            <a:ext cx="12191695" cy="189738"/>
          </a:xfrm>
          <a:prstGeom prst="rect">
            <a:avLst/>
          </a:prstGeom>
          <a:solidFill>
            <a:srgbClr val="0133FB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115568" y="4937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</a:t>
            </a:r>
            <a:pPr indent="0" marL="0">
              <a:buNone/>
            </a:pPr>
            <a:r>
              <a:rPr lang="en-US" sz="28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548640" y="246888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46" name="Shape 44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Questions, demos, or hands-on walk-through: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48640" y="5212080"/>
            <a:ext cx="365760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5376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1417320" y="5330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now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417320" y="5669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352544" y="5212080"/>
            <a:ext cx="365760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9704" y="5376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5221224" y="5330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logins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21224" y="5669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password123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156448" y="5212080"/>
            <a:ext cx="365760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93608" y="5376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9025128" y="5330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a walk-through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025128" y="5669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HR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SevenGen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PMF Automation System — Executive Review</dc:title>
  <dc:subject>PptxGenJS Presentation</dc:subject>
  <dc:creator>SevenGen HR</dc:creator>
  <cp:lastModifiedBy>SevenGen HR</cp:lastModifiedBy>
  <cp:revision>1</cp:revision>
  <dcterms:created xsi:type="dcterms:W3CDTF">2026-05-02T05:45:23Z</dcterms:created>
  <dcterms:modified xsi:type="dcterms:W3CDTF">2026-05-02T05:45:23Z</dcterms:modified>
</cp:coreProperties>
</file>