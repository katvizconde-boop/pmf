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"/>
            <a:ext cx="12191695" cy="155448"/>
          </a:xfrm>
          <a:prstGeom prst="rect">
            <a:avLst/>
          </a:prstGeom>
          <a:solidFill>
            <a:srgbClr val="1E3B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74320"/>
            <a:ext cx="12191695" cy="155448"/>
          </a:xfrm>
          <a:prstGeom prst="rect">
            <a:avLst/>
          </a:prstGeom>
          <a:solidFill>
            <a:srgbClr val="1E3C8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11480"/>
            <a:ext cx="12191695" cy="155448"/>
          </a:xfrm>
          <a:prstGeom prst="rect">
            <a:avLst/>
          </a:prstGeom>
          <a:solidFill>
            <a:srgbClr val="1E3C9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48640"/>
            <a:ext cx="12191695" cy="155448"/>
          </a:xfrm>
          <a:prstGeom prst="rect">
            <a:avLst/>
          </a:prstGeom>
          <a:solidFill>
            <a:srgbClr val="1F3D92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85800"/>
            <a:ext cx="12191695" cy="155448"/>
          </a:xfrm>
          <a:prstGeom prst="rect">
            <a:avLst/>
          </a:prstGeom>
          <a:solidFill>
            <a:srgbClr val="1F3E94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822960"/>
            <a:ext cx="12191695" cy="155448"/>
          </a:xfrm>
          <a:prstGeom prst="rect">
            <a:avLst/>
          </a:prstGeom>
          <a:solidFill>
            <a:srgbClr val="1F3F9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960120"/>
            <a:ext cx="12191695" cy="155448"/>
          </a:xfrm>
          <a:prstGeom prst="rect">
            <a:avLst/>
          </a:prstGeom>
          <a:solidFill>
            <a:srgbClr val="1F4098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097280"/>
            <a:ext cx="12191695" cy="155448"/>
          </a:xfrm>
          <a:prstGeom prst="rect">
            <a:avLst/>
          </a:prstGeom>
          <a:solidFill>
            <a:srgbClr val="1F419A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1234440"/>
            <a:ext cx="12191695" cy="155448"/>
          </a:xfrm>
          <a:prstGeom prst="rect">
            <a:avLst/>
          </a:prstGeom>
          <a:solidFill>
            <a:srgbClr val="1F419B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371600"/>
            <a:ext cx="12191695" cy="155448"/>
          </a:xfrm>
          <a:prstGeom prst="rect">
            <a:avLst/>
          </a:prstGeom>
          <a:solidFill>
            <a:srgbClr val="1F429D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1508760"/>
            <a:ext cx="12191695" cy="155448"/>
          </a:xfrm>
          <a:prstGeom prst="rect">
            <a:avLst/>
          </a:prstGeom>
          <a:solidFill>
            <a:srgbClr val="20439F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1645920"/>
            <a:ext cx="12191695" cy="155448"/>
          </a:xfrm>
          <a:prstGeom prst="rect">
            <a:avLst/>
          </a:prstGeom>
          <a:solidFill>
            <a:srgbClr val="2044A1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1783080"/>
            <a:ext cx="12191695" cy="155448"/>
          </a:xfrm>
          <a:prstGeom prst="rect">
            <a:avLst/>
          </a:prstGeom>
          <a:solidFill>
            <a:srgbClr val="2045A3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1920240"/>
            <a:ext cx="12191695" cy="155448"/>
          </a:xfrm>
          <a:prstGeom prst="rect">
            <a:avLst/>
          </a:prstGeom>
          <a:solidFill>
            <a:srgbClr val="2045A5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2057400"/>
            <a:ext cx="12191695" cy="155448"/>
          </a:xfrm>
          <a:prstGeom prst="rect">
            <a:avLst/>
          </a:prstGeom>
          <a:solidFill>
            <a:srgbClr val="2046A7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2194560"/>
            <a:ext cx="12191695" cy="155448"/>
          </a:xfrm>
          <a:prstGeom prst="rect">
            <a:avLst/>
          </a:prstGeom>
          <a:solidFill>
            <a:srgbClr val="2047A9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2331720"/>
            <a:ext cx="12191695" cy="155448"/>
          </a:xfrm>
          <a:prstGeom prst="rect">
            <a:avLst/>
          </a:prstGeom>
          <a:solidFill>
            <a:srgbClr val="2048AB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2468880"/>
            <a:ext cx="12191695" cy="155448"/>
          </a:xfrm>
          <a:prstGeom prst="rect">
            <a:avLst/>
          </a:prstGeom>
          <a:solidFill>
            <a:srgbClr val="2149AD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2606040"/>
            <a:ext cx="12191695" cy="155448"/>
          </a:xfrm>
          <a:prstGeom prst="rect">
            <a:avLst/>
          </a:prstGeom>
          <a:solidFill>
            <a:srgbClr val="214AAF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2743200"/>
            <a:ext cx="12191695" cy="155448"/>
          </a:xfrm>
          <a:prstGeom prst="rect">
            <a:avLst/>
          </a:prstGeom>
          <a:solidFill>
            <a:srgbClr val="214AB1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2880360"/>
            <a:ext cx="12191695" cy="155448"/>
          </a:xfrm>
          <a:prstGeom prst="rect">
            <a:avLst/>
          </a:prstGeom>
          <a:solidFill>
            <a:srgbClr val="214BB3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3017520"/>
            <a:ext cx="12191695" cy="155448"/>
          </a:xfrm>
          <a:prstGeom prst="rect">
            <a:avLst/>
          </a:prstGeom>
          <a:solidFill>
            <a:srgbClr val="214CB5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3154680"/>
            <a:ext cx="12191695" cy="155448"/>
          </a:xfrm>
          <a:prstGeom prst="rect">
            <a:avLst/>
          </a:prstGeom>
          <a:solidFill>
            <a:srgbClr val="214DB7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155448"/>
          </a:xfrm>
          <a:prstGeom prst="rect">
            <a:avLst/>
          </a:prstGeom>
          <a:solidFill>
            <a:srgbClr val="214EB9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3429000"/>
            <a:ext cx="12191695" cy="155448"/>
          </a:xfrm>
          <a:prstGeom prst="rect">
            <a:avLst/>
          </a:prstGeom>
          <a:solidFill>
            <a:srgbClr val="224FBB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3566160"/>
            <a:ext cx="12191695" cy="155448"/>
          </a:xfrm>
          <a:prstGeom prst="rect">
            <a:avLst/>
          </a:prstGeom>
          <a:solidFill>
            <a:srgbClr val="224FBC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3703320"/>
            <a:ext cx="12191695" cy="155448"/>
          </a:xfrm>
          <a:prstGeom prst="rect">
            <a:avLst/>
          </a:prstGeom>
          <a:solidFill>
            <a:srgbClr val="2250BE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3840480"/>
            <a:ext cx="12191695" cy="155448"/>
          </a:xfrm>
          <a:prstGeom prst="rect">
            <a:avLst/>
          </a:prstGeom>
          <a:solidFill>
            <a:srgbClr val="2251C0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3977640"/>
            <a:ext cx="12191695" cy="155448"/>
          </a:xfrm>
          <a:prstGeom prst="rect">
            <a:avLst/>
          </a:prstGeom>
          <a:solidFill>
            <a:srgbClr val="2252C2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4114800"/>
            <a:ext cx="12191695" cy="155448"/>
          </a:xfrm>
          <a:prstGeom prst="rect">
            <a:avLst/>
          </a:prstGeom>
          <a:solidFill>
            <a:srgbClr val="2253C4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4251960"/>
            <a:ext cx="12191695" cy="155448"/>
          </a:xfrm>
          <a:prstGeom prst="rect">
            <a:avLst/>
          </a:prstGeom>
          <a:solidFill>
            <a:srgbClr val="2253C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4389120"/>
            <a:ext cx="12191695" cy="155448"/>
          </a:xfrm>
          <a:prstGeom prst="rect">
            <a:avLst/>
          </a:prstGeom>
          <a:solidFill>
            <a:srgbClr val="2254C8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4526280"/>
            <a:ext cx="12191695" cy="155448"/>
          </a:xfrm>
          <a:prstGeom prst="rect">
            <a:avLst/>
          </a:prstGeom>
          <a:solidFill>
            <a:srgbClr val="2355CA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4663440"/>
            <a:ext cx="12191695" cy="155448"/>
          </a:xfrm>
          <a:prstGeom prst="rect">
            <a:avLst/>
          </a:prstGeom>
          <a:solidFill>
            <a:srgbClr val="2356CC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4800600"/>
            <a:ext cx="12191695" cy="155448"/>
          </a:xfrm>
          <a:prstGeom prst="rect">
            <a:avLst/>
          </a:prstGeom>
          <a:solidFill>
            <a:srgbClr val="2357CE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4937760"/>
            <a:ext cx="12191695" cy="155448"/>
          </a:xfrm>
          <a:prstGeom prst="rect">
            <a:avLst/>
          </a:prstGeom>
          <a:solidFill>
            <a:srgbClr val="2358D0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5074920"/>
            <a:ext cx="12191695" cy="155448"/>
          </a:xfrm>
          <a:prstGeom prst="rect">
            <a:avLst/>
          </a:prstGeom>
          <a:solidFill>
            <a:srgbClr val="2358D2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5212080"/>
            <a:ext cx="12191695" cy="155448"/>
          </a:xfrm>
          <a:prstGeom prst="rect">
            <a:avLst/>
          </a:prstGeom>
          <a:solidFill>
            <a:srgbClr val="2359D4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349240"/>
            <a:ext cx="12191695" cy="155448"/>
          </a:xfrm>
          <a:prstGeom prst="rect">
            <a:avLst/>
          </a:prstGeom>
          <a:solidFill>
            <a:srgbClr val="235AD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155448"/>
          </a:xfrm>
          <a:prstGeom prst="rect">
            <a:avLst/>
          </a:prstGeom>
          <a:solidFill>
            <a:srgbClr val="245BD8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623560"/>
            <a:ext cx="12191695" cy="155448"/>
          </a:xfrm>
          <a:prstGeom prst="rect">
            <a:avLst/>
          </a:prstGeom>
          <a:solidFill>
            <a:srgbClr val="245CDA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5760720"/>
            <a:ext cx="12191695" cy="155448"/>
          </a:xfrm>
          <a:prstGeom prst="rect">
            <a:avLst/>
          </a:prstGeom>
          <a:solidFill>
            <a:srgbClr val="245CDB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5897880"/>
            <a:ext cx="12191695" cy="155448"/>
          </a:xfrm>
          <a:prstGeom prst="rect">
            <a:avLst/>
          </a:prstGeom>
          <a:solidFill>
            <a:srgbClr val="245DDD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6035040"/>
            <a:ext cx="12191695" cy="155448"/>
          </a:xfrm>
          <a:prstGeom prst="rect">
            <a:avLst/>
          </a:prstGeom>
          <a:solidFill>
            <a:srgbClr val="245EDF"/>
          </a:solidFill>
          <a:ln/>
        </p:spPr>
      </p:sp>
      <p:sp>
        <p:nvSpPr>
          <p:cNvPr id="47" name="Shape 45"/>
          <p:cNvSpPr/>
          <p:nvPr/>
        </p:nvSpPr>
        <p:spPr>
          <a:xfrm>
            <a:off x="0" y="6172200"/>
            <a:ext cx="12191695" cy="155448"/>
          </a:xfrm>
          <a:prstGeom prst="rect">
            <a:avLst/>
          </a:prstGeom>
          <a:solidFill>
            <a:srgbClr val="245FE1"/>
          </a:solidFill>
          <a:ln/>
        </p:spPr>
      </p:sp>
      <p:sp>
        <p:nvSpPr>
          <p:cNvPr id="48" name="Shape 46"/>
          <p:cNvSpPr/>
          <p:nvPr/>
        </p:nvSpPr>
        <p:spPr>
          <a:xfrm>
            <a:off x="0" y="6309360"/>
            <a:ext cx="12191695" cy="155448"/>
          </a:xfrm>
          <a:prstGeom prst="rect">
            <a:avLst/>
          </a:prstGeom>
          <a:solidFill>
            <a:srgbClr val="2460E3"/>
          </a:solidFill>
          <a:ln/>
        </p:spPr>
      </p:sp>
      <p:sp>
        <p:nvSpPr>
          <p:cNvPr id="49" name="Shape 47"/>
          <p:cNvSpPr/>
          <p:nvPr/>
        </p:nvSpPr>
        <p:spPr>
          <a:xfrm>
            <a:off x="0" y="6446520"/>
            <a:ext cx="12191695" cy="155448"/>
          </a:xfrm>
          <a:prstGeom prst="rect">
            <a:avLst/>
          </a:prstGeom>
          <a:solidFill>
            <a:srgbClr val="2561E5"/>
          </a:solidFill>
          <a:ln/>
        </p:spPr>
      </p:sp>
      <p:sp>
        <p:nvSpPr>
          <p:cNvPr id="50" name="Shape 48"/>
          <p:cNvSpPr/>
          <p:nvPr/>
        </p:nvSpPr>
        <p:spPr>
          <a:xfrm>
            <a:off x="0" y="6583680"/>
            <a:ext cx="12191695" cy="155448"/>
          </a:xfrm>
          <a:prstGeom prst="rect">
            <a:avLst/>
          </a:prstGeom>
          <a:solidFill>
            <a:srgbClr val="2561E7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720840"/>
            <a:ext cx="12191695" cy="155448"/>
          </a:xfrm>
          <a:prstGeom prst="rect">
            <a:avLst/>
          </a:prstGeom>
          <a:solidFill>
            <a:srgbClr val="2562E9"/>
          </a:solidFill>
          <a:ln/>
        </p:spPr>
      </p:sp>
      <p:sp>
        <p:nvSpPr>
          <p:cNvPr id="52" name="Shape 50"/>
          <p:cNvSpPr/>
          <p:nvPr/>
        </p:nvSpPr>
        <p:spPr>
          <a:xfrm>
            <a:off x="548640" y="502920"/>
            <a:ext cx="594360" cy="640080"/>
          </a:xfrm>
          <a:prstGeom prst="hexagon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50292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</a:t>
            </a:r>
            <a:endParaRPr lang="en-US" sz="2600" dirty="0"/>
          </a:p>
        </p:txBody>
      </p:sp>
      <p:sp>
        <p:nvSpPr>
          <p:cNvPr id="54" name="Text 52"/>
          <p:cNvSpPr/>
          <p:nvPr/>
        </p:nvSpPr>
        <p:spPr>
          <a:xfrm>
            <a:off x="1234440" y="4663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PMF </a:t>
            </a:r>
            <a:pPr indent="0" marL="0">
              <a:buNone/>
            </a:pPr>
            <a:r>
              <a:rPr lang="en-US" sz="2200" b="1" spc="100" kern="0" dirty="0">
                <a:solidFill>
                  <a:srgbClr val="BFDB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SYSTEM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1234440" y="795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Management Form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48640" y="20116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BFDB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EXECUTIVE BRIEFING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48640" y="246888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Performance Management,</a:t>
            </a:r>
            <a:endParaRPr lang="en-US" sz="6400" dirty="0"/>
          </a:p>
        </p:txBody>
      </p:sp>
      <p:sp>
        <p:nvSpPr>
          <p:cNvPr id="58" name="Text 56"/>
          <p:cNvSpPr/>
          <p:nvPr/>
        </p:nvSpPr>
        <p:spPr>
          <a:xfrm>
            <a:off x="548640" y="324612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BFDB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Reinvented</a:t>
            </a:r>
            <a:endParaRPr lang="en-US" sz="6400" dirty="0"/>
          </a:p>
        </p:txBody>
      </p:sp>
      <p:sp>
        <p:nvSpPr>
          <p:cNvPr id="59" name="Text 57"/>
          <p:cNvSpPr/>
          <p:nvPr/>
        </p:nvSpPr>
        <p:spPr>
          <a:xfrm>
            <a:off x="548640" y="44348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BEA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connected platform for reviews, goals, feedback, and growth — built for 7GEN.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548640" y="5669280"/>
            <a:ext cx="210312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548640" y="5669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 Live in production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2834640" y="5669280"/>
            <a:ext cx="210312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2834640" y="5669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 AI-assisted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5120640" y="5669280"/>
            <a:ext cx="210312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5120640" y="5669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 Audit-ready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7406640" y="5669280"/>
            <a:ext cx="210312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7406640" y="5669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 $0 cost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01 ·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6400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274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DBEA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PMF System · Executive Briefing · Q2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34095" y="6492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sevengen.vercel.app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6035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 replaced PDFs and email chains with a </a:t>
            </a:r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single connected platform</a:t>
            </a:r>
            <a:pPr indent="0" marL="0">
              <a:buNone/>
            </a:pPr>
            <a:r>
              <a:rPr lang="en-US" sz="2600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that automates performance reviews end-to-end across all four 7GEN companies.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3716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3891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in production · free to operate · ready for company-wide rollout.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49440" y="1828800"/>
            <a:ext cx="2286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1828800"/>
            <a:ext cx="2286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60+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94944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FEATURES SHIPPED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372600" y="1828800"/>
            <a:ext cx="2286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1828800"/>
            <a:ext cx="2286000" cy="7315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8" name="Text 16"/>
          <p:cNvSpPr/>
          <p:nvPr/>
        </p:nvSpPr>
        <p:spPr>
          <a:xfrm>
            <a:off x="937260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40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37260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COMPANIES SUPPORTED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0" y="3520440"/>
            <a:ext cx="2286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3520440"/>
            <a:ext cx="2286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3611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70%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949440" y="4480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TIME SAVED PER REVIEW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372600" y="3520440"/>
            <a:ext cx="2286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72600" y="3520440"/>
            <a:ext cx="2286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9372600" y="3611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$0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9372600" y="4480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MONTHLY COST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02 · 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we replaced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6400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274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DBEA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PMF System · Executive Briefing · Q2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34095" y="6492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sevengen.vercel.app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BEFORE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539496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423160"/>
            <a:ext cx="73152" cy="1188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5877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📎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600200" y="2587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PDFs over email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29718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 forwarded back and forth — no source of truth.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2423160"/>
            <a:ext cx="539496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423160"/>
            <a:ext cx="73152" cy="1188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5877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223760" y="2587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history visibility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23760" y="29718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 reviews buried in inboxes and shared drives.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539496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749040"/>
            <a:ext cx="73152" cy="1188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9136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📞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600200" y="39136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Manual chasing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00200" y="42976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chases every due date with calls, pings, follow-ups.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72200" y="3749040"/>
            <a:ext cx="539496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3749040"/>
            <a:ext cx="73152" cy="1188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39136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🧮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223760" y="39136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Calculator scoring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223760" y="42976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Error-prone math between spreadsheets.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074920"/>
            <a:ext cx="539496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5074920"/>
            <a:ext cx="73152" cy="1188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239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🧩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1600200" y="5239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Inconsistent forms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600200" y="56235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team versions, custom edits, drift.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72200" y="5074920"/>
            <a:ext cx="539496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5074920"/>
            <a:ext cx="73152" cy="1188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5239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⚖️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7223760" y="5239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Ad-hoc compliance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223760" y="56235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DOLE reports rebuilt manually every cycle.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03 · 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6400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274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DBEA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PMF System · Executive Briefing · Q2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34095" y="6492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sevengen.vercel.app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AFTER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539496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423160"/>
            <a:ext cx="73152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5877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600200" y="2587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unified web app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29718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HR, managers, employees — same source, real-time.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2423160"/>
            <a:ext cx="539496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423160"/>
            <a:ext cx="73152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5877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223760" y="2587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Auto-calculated scoring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23760" y="29718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Weighted formula matches the PDFs exactly.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539496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749040"/>
            <a:ext cx="73152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9136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📧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600200" y="39136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Notifications + reminders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00200" y="42976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cron and in-app bell. No more chasing.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72200" y="3749040"/>
            <a:ext cx="539496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3749040"/>
            <a:ext cx="73152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39136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✨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223760" y="39136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AI-drafted feedback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223760" y="42976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generates strengths &amp; development goals.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074920"/>
            <a:ext cx="539496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5074920"/>
            <a:ext cx="73152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239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1600200" y="5239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Audit-ready compliance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600200" y="56235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action logged. CSV exports for DOLE.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72200" y="5074920"/>
            <a:ext cx="539496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5074920"/>
            <a:ext cx="73152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5239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7223760" y="5239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Globally available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223760" y="56235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+ Neon. Always on. No IT infrastructure.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04 · ECOSYSTEM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Six modules, one connected platform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6400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274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DBEA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PMF System · Executive Briefing · Q2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34095" y="6492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sevengen.vercel.app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103120"/>
            <a:ext cx="548640" cy="4572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2103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743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Reviews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 · manager · multi-rater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182880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2103120"/>
            <a:ext cx="548640" cy="4572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6" name="Text 14"/>
          <p:cNvSpPr/>
          <p:nvPr/>
        </p:nvSpPr>
        <p:spPr>
          <a:xfrm>
            <a:off x="7269480" y="2103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743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Goals &amp; OKRs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Quarterly objectives + KRs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1828800"/>
            <a:ext cx="3611880" cy="2103120"/>
          </a:xfrm>
          <a:prstGeom prst="rect">
            <a:avLst/>
          </a:prstGeom>
          <a:solidFill>
            <a:srgbClr val="1E3A8A"/>
          </a:solidFill>
          <a:ln/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21040" y="2103120"/>
            <a:ext cx="548640" cy="2286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21031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018520" y="2103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21040" y="2606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Competency Framework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21040" y="3108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6-dimension rubric, calibrated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4389120"/>
            <a:ext cx="548640" cy="4572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4389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Feedback &amp; Recognition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22960" y="5532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coaching · kudos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97680" y="411480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4389120"/>
            <a:ext cx="548640" cy="4572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2" name="Text 30"/>
          <p:cNvSpPr/>
          <p:nvPr/>
        </p:nvSpPr>
        <p:spPr>
          <a:xfrm>
            <a:off x="7269480" y="4389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0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Calibration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572000" y="5532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Leadership rating alignment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46720" y="411480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21040" y="4389120"/>
            <a:ext cx="548640" cy="4572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7" name="Text 35"/>
          <p:cNvSpPr/>
          <p:nvPr/>
        </p:nvSpPr>
        <p:spPr>
          <a:xfrm>
            <a:off x="11018520" y="4389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21040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Development Plans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321040" y="5532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paths · growth milestones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6263640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ℹ  </a:t>
            </a:r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platform, one data model.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Reviews inform goals · Goals shape feedback · Feedback feeds calibration · Calibration drives development.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05 · 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review flows through four stages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6400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274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DBEA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PMF System · Executive Briefing · Q2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34095" y="6492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sevengen.vercel.app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8680" y="2468880"/>
            <a:ext cx="23774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214884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68680" y="28803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SELF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ASSESS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3794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 fills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3383280"/>
            <a:ext cx="27432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03320" y="2468880"/>
            <a:ext cx="23774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214884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703320" y="28803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MANAGER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REVIEW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86200" y="3794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 rates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383280"/>
            <a:ext cx="27432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537960" y="2468880"/>
            <a:ext cx="23774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0" y="2148840"/>
            <a:ext cx="640080" cy="64008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537960" y="28803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REVIEW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20840" y="3794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approves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06840" y="3383280"/>
            <a:ext cx="27432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372600" y="2468880"/>
            <a:ext cx="23774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41280" y="214884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102412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9372600" y="28803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FINALIZED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555480" y="3794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Locked &amp; shared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166360"/>
            <a:ext cx="11091672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2120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🔔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1463040" y="52120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Auto-emails + in-app notifications + daily cron jobs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 at every transition. Nothing falls through the cracks.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06 · TEMPLATES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Two PMF templates, matched to your forms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6400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274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DBEA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PMF System · Executive Briefing · Q2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34095" y="6492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sevengen.vercel.app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55321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28800"/>
            <a:ext cx="553212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20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FDB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REGULAR EMPLOYEE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Quarterly Evaluation · 5 parts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3154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3154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Contributions &amp; Achievements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3154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35%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703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II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20240" y="3703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Competencies (5 items)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4920" y="3703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30%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251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III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20240" y="4251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 Goals (3 goals)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4251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35%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4800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IV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20240" y="4800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 &amp; Strengths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74920" y="4800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53492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20240" y="5349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 &amp; Recommendation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74920" y="5349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55080" y="1828800"/>
            <a:ext cx="55321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1828800"/>
            <a:ext cx="5532120" cy="9144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1920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FDB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PROBATIONARY / CONTRACTUAL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29400" y="21945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Performance &amp; Core Values · 4 parts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629400" y="3154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26680" y="3154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Metrics (6 categories)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881360" y="3154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50%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29400" y="3703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II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26680" y="3703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Values (9 categories)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881360" y="3703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50%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4251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III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26680" y="4251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Rating (auto-calc)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881360" y="4251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629400" y="4800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IV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726680" y="4800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Plan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881360" y="4800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629400" y="53492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26680" y="5349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Recommendation: Regularize / Extend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881360" y="5349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07 · ROI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Time savings per review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6400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274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DBEA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07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PMF System · Executive Briefing · Q2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34095" y="6492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sevengen.vercel.app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70%</a:t>
            </a:r>
            <a:endParaRPr lang="en-US" sz="180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less time per review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45262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 workflow drops from ~45 min to ~13 min per employee.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1828800"/>
            <a:ext cx="667512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3" name="Text 11"/>
          <p:cNvSpPr/>
          <p:nvPr/>
        </p:nvSpPr>
        <p:spPr>
          <a:xfrm>
            <a:off x="5166360" y="1828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Task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1828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Before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235440" y="1828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After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424160" y="1828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Saved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2286000"/>
            <a:ext cx="66751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2286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Filling out the form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0" y="2286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min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35440" y="2286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min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424160" y="2286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−7 min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2743200"/>
            <a:ext cx="6675120" cy="45720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Writing justifications 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0" y="2743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min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35440" y="2743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min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424160" y="2743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−9 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0" y="3200400"/>
            <a:ext cx="66751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166360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Drafting strengths ✨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0" y="3200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min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235440" y="3200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min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424160" y="3200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−6 min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0" y="3657600"/>
            <a:ext cx="6675120" cy="45720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3657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Drafting dev goals ✨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3657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min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235440" y="3657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min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424160" y="3657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−6 min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029200" y="4114800"/>
            <a:ext cx="66751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166360" y="4114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Calculating score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46720" y="4114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min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235440" y="4114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min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424160" y="4114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−5 min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029200" y="4572000"/>
            <a:ext cx="6675120" cy="45720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43" name="Text 41"/>
          <p:cNvSpPr/>
          <p:nvPr/>
        </p:nvSpPr>
        <p:spPr>
          <a:xfrm>
            <a:off x="5166360" y="4572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Sending to HR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046720" y="4572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min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235440" y="4572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min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424160" y="4572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−3 min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029200" y="5029200"/>
            <a:ext cx="667512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8" name="Text 46"/>
          <p:cNvSpPr/>
          <p:nvPr/>
        </p:nvSpPr>
        <p:spPr>
          <a:xfrm>
            <a:off x="5166360" y="5029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TOTAL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046720" y="5029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51 min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235440" y="5029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 min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0424160" y="5029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−36 min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029200" y="56692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✨ AI-assisted   ·   At 200 reviews/year = ~120 hours of manager time saved annually.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08 · BUILD VS. BUY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we built vs. what we'd pay for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6400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274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DBEA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08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PMF System · Executive Briefing · Q2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34095" y="6492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sevengen.vercel.app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11091672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28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PMF Templates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0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Drafting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1828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Audit Log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1828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Multi-Co.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07040" y="18288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Source Code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331720"/>
            <a:ext cx="1109167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3317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Workday Performance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$25-30/employee/mo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2331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0" y="2331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2331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418320" y="2331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607040" y="23317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2971800"/>
            <a:ext cx="11091672" cy="640080"/>
          </a:xfrm>
          <a:prstGeom prst="rect">
            <a:avLst/>
          </a:prstGeom>
          <a:solidFill>
            <a:srgbClr val="F0F9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2971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BambooHR Performance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0" y="2971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$8-12/employee/mo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0" y="29718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9440" y="29718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0" y="29718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418320" y="29718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607040" y="29718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3611880"/>
            <a:ext cx="1109167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3611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Lattice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57600" y="3611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$11-15/employee/mo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69280" y="3611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49440" y="3611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29600" y="3611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418320" y="3611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607040" y="36118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" y="4251960"/>
            <a:ext cx="11091672" cy="640080"/>
          </a:xfrm>
          <a:prstGeom prst="rect">
            <a:avLst/>
          </a:prstGeom>
          <a:solidFill>
            <a:srgbClr val="F0F9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4251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15Five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0" y="4251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$10-14/employee/mo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669280" y="4251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949440" y="4251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229600" y="4251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418320" y="4251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0607040" y="42519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48640" y="4892040"/>
            <a:ext cx="11091672" cy="640080"/>
          </a:xfrm>
          <a:prstGeom prst="rect">
            <a:avLst/>
          </a:prstGeom>
          <a:solidFill>
            <a:srgbClr val="EFF6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" y="4892040"/>
            <a:ext cx="7315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731520" y="4892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PMF System (yours)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657600" y="4892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$0 · free tier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669280" y="4892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949440" y="4892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 Claude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229600" y="4892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9418320" y="4892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0607040" y="48920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 owned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548640" y="5852160"/>
            <a:ext cx="11091672" cy="6400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9" name="Text 57"/>
          <p:cNvSpPr/>
          <p:nvPr/>
        </p:nvSpPr>
        <p:spPr>
          <a:xfrm>
            <a:off x="777240" y="5852160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💰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100 employees, competitors charge </a:t>
            </a:r>
            <a:pPr indent="0" marL="0">
              <a:buNone/>
            </a:pPr>
            <a:r>
              <a:rPr lang="en-US" sz="1400" b="1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$10,000–$36,000/year.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cost: $0 + ~$2/year for AI calls.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09 · SECURITY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Built for enterprise trust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6400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274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DBEA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09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PMF System · Executive Briefing · Q2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34095" y="6492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sevengen.vercel.app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28800"/>
            <a:ext cx="64008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45920" y="19933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JWT + bcrypt auth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45920" y="23774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Industry-standard hashing. Microsoft 365 SSO ready.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9632" y="1828800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9632" y="1828800"/>
            <a:ext cx="64008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382512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296912" y="19933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Role-based access control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96912" y="23774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Enforced on every API route — no client bypass.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035808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035808"/>
            <a:ext cx="64008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1729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📜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64592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Full audit log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45920" y="35844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action logged with actor + timestamp.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99632" y="3035808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9632" y="3035808"/>
            <a:ext cx="64008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6382512" y="31729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296912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HTTPS everywhere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96912" y="35844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TLS 1.3, auto-renewed certificates.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242816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242816"/>
            <a:ext cx="64008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37997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🚦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1645920" y="4407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Workflow state machine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645920" y="479145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Cannot skip steps or edit finalized PMFs.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99632" y="4242816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99632" y="4242816"/>
            <a:ext cx="64008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6382512" y="437997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💾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7296912" y="4407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Historical preservation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96912" y="479145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Templates lock once used. Old data never overwritten.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5449824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5449824"/>
            <a:ext cx="64008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558698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1645920" y="56144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DOLE-friendly reports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645920" y="59984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Tenure, probation, training — CSV exports.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99632" y="5449824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99632" y="5449824"/>
            <a:ext cx="64008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6" name="Text 44"/>
          <p:cNvSpPr/>
          <p:nvPr/>
        </p:nvSpPr>
        <p:spPr>
          <a:xfrm>
            <a:off x="6382512" y="558698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🇵🇭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7296912" y="56144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Philippine labor compliance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296912" y="59984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6-month probation tracking, 30/14/3-day alerts.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10 ·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Phased company-wide rollout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6400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274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DBEA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PMF System · Executive Briefing · Q2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34095" y="6492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sevengen.vercel.app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82880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828800"/>
            <a:ext cx="269748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WEEK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514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Pilot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3017520"/>
            <a:ext cx="457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200400"/>
            <a:ext cx="2240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HR + TM team only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Validate workflow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Refine templates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Train 5 managers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01568" y="182880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1828800"/>
            <a:ext cx="2697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584448" y="1828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WEEK 2-3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30168" y="2514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Department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630168" y="3017520"/>
            <a:ext cx="4572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3630168" y="3200400"/>
            <a:ext cx="2240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7GEN dept by dept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Bulk-import employees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Auto-assign cycle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Send reminders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08776" y="182880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08776" y="1828800"/>
            <a:ext cx="2697480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3" name="Text 21"/>
          <p:cNvSpPr/>
          <p:nvPr/>
        </p:nvSpPr>
        <p:spPr>
          <a:xfrm>
            <a:off x="6391656" y="1828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WEEK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37376" y="2514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All Cos.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37376" y="3017520"/>
            <a:ext cx="457200" cy="36576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6" name="Text 24"/>
          <p:cNvSpPr/>
          <p:nvPr/>
        </p:nvSpPr>
        <p:spPr>
          <a:xfrm>
            <a:off x="6437376" y="3200400"/>
            <a:ext cx="2240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M2.0 + MMI + Rythmos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Custom domain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Microsoft 365 SSO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Branded email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15984" y="182880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15984" y="1828800"/>
            <a:ext cx="269748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9198864" y="1828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WEEK 5+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244584" y="2514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Continuous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244584" y="3017520"/>
            <a:ext cx="4572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9244584" y="3200400"/>
            <a:ext cx="2240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Quarterly automation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Year-over-year analytics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AI feedback at scale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Iterate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6080760"/>
            <a:ext cx="11091672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6080760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⏱  </a:t>
            </a:r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time to full rollout: </a:t>
            </a:r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~4 weeks.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is already live, so weeks 1-2 fit in 1-2 days of work.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"/>
            <a:ext cx="12191695" cy="155448"/>
          </a:xfrm>
          <a:prstGeom prst="rect">
            <a:avLst/>
          </a:prstGeom>
          <a:solidFill>
            <a:srgbClr val="1E3B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74320"/>
            <a:ext cx="12191695" cy="155448"/>
          </a:xfrm>
          <a:prstGeom prst="rect">
            <a:avLst/>
          </a:prstGeom>
          <a:solidFill>
            <a:srgbClr val="1E3C8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11480"/>
            <a:ext cx="12191695" cy="155448"/>
          </a:xfrm>
          <a:prstGeom prst="rect">
            <a:avLst/>
          </a:prstGeom>
          <a:solidFill>
            <a:srgbClr val="1E3C9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48640"/>
            <a:ext cx="12191695" cy="155448"/>
          </a:xfrm>
          <a:prstGeom prst="rect">
            <a:avLst/>
          </a:prstGeom>
          <a:solidFill>
            <a:srgbClr val="1F3D92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85800"/>
            <a:ext cx="12191695" cy="155448"/>
          </a:xfrm>
          <a:prstGeom prst="rect">
            <a:avLst/>
          </a:prstGeom>
          <a:solidFill>
            <a:srgbClr val="1F3E94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822960"/>
            <a:ext cx="12191695" cy="155448"/>
          </a:xfrm>
          <a:prstGeom prst="rect">
            <a:avLst/>
          </a:prstGeom>
          <a:solidFill>
            <a:srgbClr val="1F3F9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960120"/>
            <a:ext cx="12191695" cy="155448"/>
          </a:xfrm>
          <a:prstGeom prst="rect">
            <a:avLst/>
          </a:prstGeom>
          <a:solidFill>
            <a:srgbClr val="1F4098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097280"/>
            <a:ext cx="12191695" cy="155448"/>
          </a:xfrm>
          <a:prstGeom prst="rect">
            <a:avLst/>
          </a:prstGeom>
          <a:solidFill>
            <a:srgbClr val="1F419A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1234440"/>
            <a:ext cx="12191695" cy="155448"/>
          </a:xfrm>
          <a:prstGeom prst="rect">
            <a:avLst/>
          </a:prstGeom>
          <a:solidFill>
            <a:srgbClr val="1F419B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371600"/>
            <a:ext cx="12191695" cy="155448"/>
          </a:xfrm>
          <a:prstGeom prst="rect">
            <a:avLst/>
          </a:prstGeom>
          <a:solidFill>
            <a:srgbClr val="1F429D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1508760"/>
            <a:ext cx="12191695" cy="155448"/>
          </a:xfrm>
          <a:prstGeom prst="rect">
            <a:avLst/>
          </a:prstGeom>
          <a:solidFill>
            <a:srgbClr val="20439F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1645920"/>
            <a:ext cx="12191695" cy="155448"/>
          </a:xfrm>
          <a:prstGeom prst="rect">
            <a:avLst/>
          </a:prstGeom>
          <a:solidFill>
            <a:srgbClr val="2044A1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1783080"/>
            <a:ext cx="12191695" cy="155448"/>
          </a:xfrm>
          <a:prstGeom prst="rect">
            <a:avLst/>
          </a:prstGeom>
          <a:solidFill>
            <a:srgbClr val="2045A3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1920240"/>
            <a:ext cx="12191695" cy="155448"/>
          </a:xfrm>
          <a:prstGeom prst="rect">
            <a:avLst/>
          </a:prstGeom>
          <a:solidFill>
            <a:srgbClr val="2045A5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2057400"/>
            <a:ext cx="12191695" cy="155448"/>
          </a:xfrm>
          <a:prstGeom prst="rect">
            <a:avLst/>
          </a:prstGeom>
          <a:solidFill>
            <a:srgbClr val="2046A7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2194560"/>
            <a:ext cx="12191695" cy="155448"/>
          </a:xfrm>
          <a:prstGeom prst="rect">
            <a:avLst/>
          </a:prstGeom>
          <a:solidFill>
            <a:srgbClr val="2047A9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2331720"/>
            <a:ext cx="12191695" cy="155448"/>
          </a:xfrm>
          <a:prstGeom prst="rect">
            <a:avLst/>
          </a:prstGeom>
          <a:solidFill>
            <a:srgbClr val="2048AB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2468880"/>
            <a:ext cx="12191695" cy="155448"/>
          </a:xfrm>
          <a:prstGeom prst="rect">
            <a:avLst/>
          </a:prstGeom>
          <a:solidFill>
            <a:srgbClr val="2149AD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2606040"/>
            <a:ext cx="12191695" cy="155448"/>
          </a:xfrm>
          <a:prstGeom prst="rect">
            <a:avLst/>
          </a:prstGeom>
          <a:solidFill>
            <a:srgbClr val="214AAF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2743200"/>
            <a:ext cx="12191695" cy="155448"/>
          </a:xfrm>
          <a:prstGeom prst="rect">
            <a:avLst/>
          </a:prstGeom>
          <a:solidFill>
            <a:srgbClr val="214AB1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2880360"/>
            <a:ext cx="12191695" cy="155448"/>
          </a:xfrm>
          <a:prstGeom prst="rect">
            <a:avLst/>
          </a:prstGeom>
          <a:solidFill>
            <a:srgbClr val="214BB3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3017520"/>
            <a:ext cx="12191695" cy="155448"/>
          </a:xfrm>
          <a:prstGeom prst="rect">
            <a:avLst/>
          </a:prstGeom>
          <a:solidFill>
            <a:srgbClr val="214CB5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3154680"/>
            <a:ext cx="12191695" cy="155448"/>
          </a:xfrm>
          <a:prstGeom prst="rect">
            <a:avLst/>
          </a:prstGeom>
          <a:solidFill>
            <a:srgbClr val="214DB7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155448"/>
          </a:xfrm>
          <a:prstGeom prst="rect">
            <a:avLst/>
          </a:prstGeom>
          <a:solidFill>
            <a:srgbClr val="214EB9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3429000"/>
            <a:ext cx="12191695" cy="155448"/>
          </a:xfrm>
          <a:prstGeom prst="rect">
            <a:avLst/>
          </a:prstGeom>
          <a:solidFill>
            <a:srgbClr val="224FBB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3566160"/>
            <a:ext cx="12191695" cy="155448"/>
          </a:xfrm>
          <a:prstGeom prst="rect">
            <a:avLst/>
          </a:prstGeom>
          <a:solidFill>
            <a:srgbClr val="224FBC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3703320"/>
            <a:ext cx="12191695" cy="155448"/>
          </a:xfrm>
          <a:prstGeom prst="rect">
            <a:avLst/>
          </a:prstGeom>
          <a:solidFill>
            <a:srgbClr val="2250BE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3840480"/>
            <a:ext cx="12191695" cy="155448"/>
          </a:xfrm>
          <a:prstGeom prst="rect">
            <a:avLst/>
          </a:prstGeom>
          <a:solidFill>
            <a:srgbClr val="2251C0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3977640"/>
            <a:ext cx="12191695" cy="155448"/>
          </a:xfrm>
          <a:prstGeom prst="rect">
            <a:avLst/>
          </a:prstGeom>
          <a:solidFill>
            <a:srgbClr val="2252C2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4114800"/>
            <a:ext cx="12191695" cy="155448"/>
          </a:xfrm>
          <a:prstGeom prst="rect">
            <a:avLst/>
          </a:prstGeom>
          <a:solidFill>
            <a:srgbClr val="2253C4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4251960"/>
            <a:ext cx="12191695" cy="155448"/>
          </a:xfrm>
          <a:prstGeom prst="rect">
            <a:avLst/>
          </a:prstGeom>
          <a:solidFill>
            <a:srgbClr val="2253C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4389120"/>
            <a:ext cx="12191695" cy="155448"/>
          </a:xfrm>
          <a:prstGeom prst="rect">
            <a:avLst/>
          </a:prstGeom>
          <a:solidFill>
            <a:srgbClr val="2254C8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4526280"/>
            <a:ext cx="12191695" cy="155448"/>
          </a:xfrm>
          <a:prstGeom prst="rect">
            <a:avLst/>
          </a:prstGeom>
          <a:solidFill>
            <a:srgbClr val="2355CA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4663440"/>
            <a:ext cx="12191695" cy="155448"/>
          </a:xfrm>
          <a:prstGeom prst="rect">
            <a:avLst/>
          </a:prstGeom>
          <a:solidFill>
            <a:srgbClr val="2356CC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4800600"/>
            <a:ext cx="12191695" cy="155448"/>
          </a:xfrm>
          <a:prstGeom prst="rect">
            <a:avLst/>
          </a:prstGeom>
          <a:solidFill>
            <a:srgbClr val="2357CE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4937760"/>
            <a:ext cx="12191695" cy="155448"/>
          </a:xfrm>
          <a:prstGeom prst="rect">
            <a:avLst/>
          </a:prstGeom>
          <a:solidFill>
            <a:srgbClr val="2358D0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5074920"/>
            <a:ext cx="12191695" cy="155448"/>
          </a:xfrm>
          <a:prstGeom prst="rect">
            <a:avLst/>
          </a:prstGeom>
          <a:solidFill>
            <a:srgbClr val="2358D2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5212080"/>
            <a:ext cx="12191695" cy="155448"/>
          </a:xfrm>
          <a:prstGeom prst="rect">
            <a:avLst/>
          </a:prstGeom>
          <a:solidFill>
            <a:srgbClr val="2359D4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349240"/>
            <a:ext cx="12191695" cy="155448"/>
          </a:xfrm>
          <a:prstGeom prst="rect">
            <a:avLst/>
          </a:prstGeom>
          <a:solidFill>
            <a:srgbClr val="235AD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155448"/>
          </a:xfrm>
          <a:prstGeom prst="rect">
            <a:avLst/>
          </a:prstGeom>
          <a:solidFill>
            <a:srgbClr val="245BD8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623560"/>
            <a:ext cx="12191695" cy="155448"/>
          </a:xfrm>
          <a:prstGeom prst="rect">
            <a:avLst/>
          </a:prstGeom>
          <a:solidFill>
            <a:srgbClr val="245CDA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5760720"/>
            <a:ext cx="12191695" cy="155448"/>
          </a:xfrm>
          <a:prstGeom prst="rect">
            <a:avLst/>
          </a:prstGeom>
          <a:solidFill>
            <a:srgbClr val="245CDB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5897880"/>
            <a:ext cx="12191695" cy="155448"/>
          </a:xfrm>
          <a:prstGeom prst="rect">
            <a:avLst/>
          </a:prstGeom>
          <a:solidFill>
            <a:srgbClr val="245DDD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6035040"/>
            <a:ext cx="12191695" cy="155448"/>
          </a:xfrm>
          <a:prstGeom prst="rect">
            <a:avLst/>
          </a:prstGeom>
          <a:solidFill>
            <a:srgbClr val="245EDF"/>
          </a:solidFill>
          <a:ln/>
        </p:spPr>
      </p:sp>
      <p:sp>
        <p:nvSpPr>
          <p:cNvPr id="47" name="Shape 45"/>
          <p:cNvSpPr/>
          <p:nvPr/>
        </p:nvSpPr>
        <p:spPr>
          <a:xfrm>
            <a:off x="0" y="6172200"/>
            <a:ext cx="12191695" cy="155448"/>
          </a:xfrm>
          <a:prstGeom prst="rect">
            <a:avLst/>
          </a:prstGeom>
          <a:solidFill>
            <a:srgbClr val="245FE1"/>
          </a:solidFill>
          <a:ln/>
        </p:spPr>
      </p:sp>
      <p:sp>
        <p:nvSpPr>
          <p:cNvPr id="48" name="Shape 46"/>
          <p:cNvSpPr/>
          <p:nvPr/>
        </p:nvSpPr>
        <p:spPr>
          <a:xfrm>
            <a:off x="0" y="6309360"/>
            <a:ext cx="12191695" cy="155448"/>
          </a:xfrm>
          <a:prstGeom prst="rect">
            <a:avLst/>
          </a:prstGeom>
          <a:solidFill>
            <a:srgbClr val="2460E3"/>
          </a:solidFill>
          <a:ln/>
        </p:spPr>
      </p:sp>
      <p:sp>
        <p:nvSpPr>
          <p:cNvPr id="49" name="Shape 47"/>
          <p:cNvSpPr/>
          <p:nvPr/>
        </p:nvSpPr>
        <p:spPr>
          <a:xfrm>
            <a:off x="0" y="6446520"/>
            <a:ext cx="12191695" cy="155448"/>
          </a:xfrm>
          <a:prstGeom prst="rect">
            <a:avLst/>
          </a:prstGeom>
          <a:solidFill>
            <a:srgbClr val="2561E5"/>
          </a:solidFill>
          <a:ln/>
        </p:spPr>
      </p:sp>
      <p:sp>
        <p:nvSpPr>
          <p:cNvPr id="50" name="Shape 48"/>
          <p:cNvSpPr/>
          <p:nvPr/>
        </p:nvSpPr>
        <p:spPr>
          <a:xfrm>
            <a:off x="0" y="6583680"/>
            <a:ext cx="12191695" cy="155448"/>
          </a:xfrm>
          <a:prstGeom prst="rect">
            <a:avLst/>
          </a:prstGeom>
          <a:solidFill>
            <a:srgbClr val="2561E7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720840"/>
            <a:ext cx="12191695" cy="155448"/>
          </a:xfrm>
          <a:prstGeom prst="rect">
            <a:avLst/>
          </a:prstGeom>
          <a:solidFill>
            <a:srgbClr val="2562E9"/>
          </a:solidFill>
          <a:ln/>
        </p:spPr>
      </p:sp>
      <p:sp>
        <p:nvSpPr>
          <p:cNvPr id="52" name="Shape 50"/>
          <p:cNvSpPr/>
          <p:nvPr/>
        </p:nvSpPr>
        <p:spPr>
          <a:xfrm>
            <a:off x="548640" y="502920"/>
            <a:ext cx="594360" cy="640080"/>
          </a:xfrm>
          <a:prstGeom prst="hexagon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50292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</a:t>
            </a:r>
            <a:endParaRPr lang="en-US" sz="2600" dirty="0"/>
          </a:p>
        </p:txBody>
      </p:sp>
      <p:sp>
        <p:nvSpPr>
          <p:cNvPr id="54" name="Text 52"/>
          <p:cNvSpPr/>
          <p:nvPr/>
        </p:nvSpPr>
        <p:spPr>
          <a:xfrm>
            <a:off x="1234440" y="4663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PMF </a:t>
            </a:r>
            <a:pPr indent="0" marL="0">
              <a:buNone/>
            </a:pPr>
            <a:r>
              <a:rPr lang="en-US" sz="2200" b="1" spc="100" kern="0" dirty="0">
                <a:solidFill>
                  <a:srgbClr val="BFDB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SYSTEM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1234440" y="795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Management Form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48640" y="1691640"/>
            <a:ext cx="128016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548640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● LIVE NOW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48640" y="214884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sevengen.vercel.app</a:t>
            </a:r>
            <a:endParaRPr lang="en-US" sz="6400" dirty="0"/>
          </a:p>
        </p:txBody>
      </p:sp>
      <p:sp>
        <p:nvSpPr>
          <p:cNvPr id="59" name="Text 57"/>
          <p:cNvSpPr/>
          <p:nvPr/>
        </p:nvSpPr>
        <p:spPr>
          <a:xfrm>
            <a:off x="548640" y="3611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FDB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DEMO LOGINS  ·  PASSWORD: password123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48640" y="4069080"/>
            <a:ext cx="5394960" cy="43891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7240" y="40690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DB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HR Admin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2377440" y="406908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hr@company.com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217920" y="4069080"/>
            <a:ext cx="5394960" cy="43891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46520" y="40690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DB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Manager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8046720" y="406908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katlyn@company.com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548640" y="4572000"/>
            <a:ext cx="5394960" cy="43891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7240" y="45720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DB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Regular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2377440" y="457200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employee@company.com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6217920" y="4572000"/>
            <a:ext cx="5394960" cy="43891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46520" y="45720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DB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Probationary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8046720" y="457200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probationary@company.com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548640" y="51663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FDB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WE NEED FROM LEADERSHIP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548640" y="5486400"/>
            <a:ext cx="3657600" cy="9601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5800" y="5650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✓</a:t>
            </a:r>
            <a:endParaRPr lang="en-US" sz="2800" dirty="0"/>
          </a:p>
        </p:txBody>
      </p:sp>
      <p:sp>
        <p:nvSpPr>
          <p:cNvPr id="75" name="Text 73"/>
          <p:cNvSpPr/>
          <p:nvPr/>
        </p:nvSpPr>
        <p:spPr>
          <a:xfrm>
            <a:off x="1463040" y="5577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Greenlight rollout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1463040" y="58704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week 1 → company-wide week 4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1463040" y="6144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$0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4352544" y="5486400"/>
            <a:ext cx="3657600" cy="9601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489704" y="5650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🔑</a:t>
            </a:r>
            <a:endParaRPr lang="en-US" sz="2800" dirty="0"/>
          </a:p>
        </p:txBody>
      </p:sp>
      <p:sp>
        <p:nvSpPr>
          <p:cNvPr id="80" name="Text 78"/>
          <p:cNvSpPr/>
          <p:nvPr/>
        </p:nvSpPr>
        <p:spPr>
          <a:xfrm>
            <a:off x="5266944" y="5577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IT support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5266944" y="58704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365 SSO + DNS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5266944" y="6144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~30 min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8156448" y="5486400"/>
            <a:ext cx="3657600" cy="9601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293608" y="5650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✨</a:t>
            </a:r>
            <a:endParaRPr lang="en-US" sz="2800" dirty="0"/>
          </a:p>
        </p:txBody>
      </p:sp>
      <p:sp>
        <p:nvSpPr>
          <p:cNvPr id="85" name="Text 83"/>
          <p:cNvSpPr/>
          <p:nvPr/>
        </p:nvSpPr>
        <p:spPr>
          <a:xfrm>
            <a:off x="9070848" y="5577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budget (optional)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9070848" y="58704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Anthropic API key. Pay-as-you-use.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9070848" y="6144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$5-15/mo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SevenGen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PMF System · Executive Briefing</dc:title>
  <dc:subject>PptxGenJS Presentation</dc:subject>
  <dc:creator>SevenGen HR</dc:creator>
  <cp:lastModifiedBy>SevenGen HR</cp:lastModifiedBy>
  <cp:revision>1</cp:revision>
  <dcterms:created xsi:type="dcterms:W3CDTF">2026-05-11T06:56:32Z</dcterms:created>
  <dcterms:modified xsi:type="dcterms:W3CDTF">2026-05-11T06:56:32Z</dcterms:modified>
</cp:coreProperties>
</file>